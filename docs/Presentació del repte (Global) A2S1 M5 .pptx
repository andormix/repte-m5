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Lst>
  <p:notesMasterIdLst>
    <p:notesMasterId r:id="rId37"/>
  </p:notesMasterIdLst>
  <p:sldIdLst>
    <p:sldId id="346" r:id="rId2"/>
    <p:sldId id="262" r:id="rId3"/>
    <p:sldId id="349" r:id="rId4"/>
    <p:sldId id="350" r:id="rId5"/>
    <p:sldId id="351" r:id="rId6"/>
    <p:sldId id="352" r:id="rId7"/>
    <p:sldId id="353" r:id="rId8"/>
    <p:sldId id="354" r:id="rId9"/>
    <p:sldId id="355" r:id="rId10"/>
    <p:sldId id="356" r:id="rId11"/>
    <p:sldId id="357" r:id="rId12"/>
    <p:sldId id="360" r:id="rId13"/>
    <p:sldId id="359" r:id="rId14"/>
    <p:sldId id="362" r:id="rId15"/>
    <p:sldId id="363" r:id="rId16"/>
    <p:sldId id="418" r:id="rId17"/>
    <p:sldId id="258" r:id="rId18"/>
    <p:sldId id="419" r:id="rId19"/>
    <p:sldId id="417" r:id="rId20"/>
    <p:sldId id="423" r:id="rId21"/>
    <p:sldId id="422" r:id="rId22"/>
    <p:sldId id="420" r:id="rId23"/>
    <p:sldId id="421" r:id="rId24"/>
    <p:sldId id="435" r:id="rId25"/>
    <p:sldId id="425" r:id="rId26"/>
    <p:sldId id="427" r:id="rId27"/>
    <p:sldId id="348" r:id="rId28"/>
    <p:sldId id="424" r:id="rId29"/>
    <p:sldId id="428" r:id="rId30"/>
    <p:sldId id="429" r:id="rId31"/>
    <p:sldId id="430" r:id="rId32"/>
    <p:sldId id="434" r:id="rId33"/>
    <p:sldId id="431" r:id="rId34"/>
    <p:sldId id="433" r:id="rId35"/>
    <p:sldId id="320" r:id="rId36"/>
  </p:sldIdLst>
  <p:sldSz cx="9144000" cy="5143500" type="screen16x9"/>
  <p:notesSz cx="6858000" cy="9144000"/>
  <p:embeddedFontLst>
    <p:embeddedFont>
      <p:font typeface="Josefin Sans" pitchFamily="2" charset="0"/>
      <p:regular r:id="rId38"/>
      <p:bold r:id="rId39"/>
    </p:embeddedFont>
    <p:embeddedFont>
      <p:font typeface="Montserrat" panose="00000500000000000000" pitchFamily="2" charset="0"/>
      <p:regular r:id="rId40"/>
      <p:bold r:id="rId41"/>
      <p:italic r:id="rId42"/>
      <p:boldItalic r:id="rId43"/>
    </p:embeddedFont>
    <p:embeddedFont>
      <p:font typeface="Open Sans" panose="020B0606030504020204" pitchFamily="34" charset="0"/>
      <p:regular r:id="rId44"/>
      <p:bold r:id="rId45"/>
      <p:italic r:id="rId46"/>
      <p:boldItalic r:id="rId47"/>
    </p:embeddedFont>
    <p:embeddedFont>
      <p:font typeface="Vidaloka" panose="020B0604020202020204" charset="0"/>
      <p:regular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thas Menethil" initials="AM" lastIdx="1" clrIdx="0">
    <p:extLst>
      <p:ext uri="{19B8F6BF-5375-455C-9EA6-DF929625EA0E}">
        <p15:presenceInfo xmlns:p15="http://schemas.microsoft.com/office/powerpoint/2012/main" userId="4f0ba2a323a7baf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9B71"/>
    <a:srgbClr val="E5EBE3"/>
    <a:srgbClr val="FFFFFF"/>
    <a:srgbClr val="9DD1DB"/>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84363CB-7A51-478F-B3E0-03CDD63C1755}">
  <a:tblStyle styleId="{284363CB-7A51-478F-B3E0-03CDD63C175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910" autoAdjust="0"/>
    <p:restoredTop sz="94660"/>
  </p:normalViewPr>
  <p:slideViewPr>
    <p:cSldViewPr snapToGrid="0">
      <p:cViewPr>
        <p:scale>
          <a:sx n="100" d="100"/>
          <a:sy n="100" d="100"/>
        </p:scale>
        <p:origin x="106"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10584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01529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107aaa41fe9_0_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107aaa41fe9_0_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40148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07a9a8b46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07a9a8b46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1109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82431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35217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14151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99419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0520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7856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7"/>
        <p:cNvGrpSpPr/>
        <p:nvPr/>
      </p:nvGrpSpPr>
      <p:grpSpPr>
        <a:xfrm>
          <a:off x="0" y="0"/>
          <a:ext cx="0" cy="0"/>
          <a:chOff x="0" y="0"/>
          <a:chExt cx="0" cy="0"/>
        </a:xfrm>
      </p:grpSpPr>
      <p:sp>
        <p:nvSpPr>
          <p:cNvPr id="1478" name="Google Shape;1478;gcc7554a049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9" name="Google Shape;1479;gcc7554a049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95395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58978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95295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739279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368803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672990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497491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955417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713600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26255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90799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562487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53923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8773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005844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979305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175362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44678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98294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868922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314169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74996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4"/>
        <p:cNvGrpSpPr/>
        <p:nvPr/>
      </p:nvGrpSpPr>
      <p:grpSpPr>
        <a:xfrm>
          <a:off x="0" y="0"/>
          <a:ext cx="0" cy="0"/>
          <a:chOff x="0" y="0"/>
          <a:chExt cx="0" cy="0"/>
        </a:xfrm>
      </p:grpSpPr>
      <p:sp>
        <p:nvSpPr>
          <p:cNvPr id="1565" name="Google Shape;1565;gcf7a3c503a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6" name="Google Shape;1566;gcf7a3c503a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13225" y="445025"/>
            <a:ext cx="5681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5"/>
          <p:cNvSpPr txBox="1">
            <a:spLocks noGrp="1"/>
          </p:cNvSpPr>
          <p:nvPr>
            <p:ph type="subTitle" idx="1"/>
          </p:nvPr>
        </p:nvSpPr>
        <p:spPr>
          <a:xfrm>
            <a:off x="5038975" y="2551449"/>
            <a:ext cx="24861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2" name="Google Shape;32;p5"/>
          <p:cNvSpPr txBox="1">
            <a:spLocks noGrp="1"/>
          </p:cNvSpPr>
          <p:nvPr>
            <p:ph type="subTitle" idx="2"/>
          </p:nvPr>
        </p:nvSpPr>
        <p:spPr>
          <a:xfrm>
            <a:off x="50389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 name="Google Shape;33;p5"/>
          <p:cNvSpPr txBox="1">
            <a:spLocks noGrp="1"/>
          </p:cNvSpPr>
          <p:nvPr>
            <p:ph type="subTitle" idx="3"/>
          </p:nvPr>
        </p:nvSpPr>
        <p:spPr>
          <a:xfrm>
            <a:off x="1693175" y="2551449"/>
            <a:ext cx="24861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4" name="Google Shape;34;p5"/>
          <p:cNvSpPr txBox="1">
            <a:spLocks noGrp="1"/>
          </p:cNvSpPr>
          <p:nvPr>
            <p:ph type="subTitle" idx="4"/>
          </p:nvPr>
        </p:nvSpPr>
        <p:spPr>
          <a:xfrm>
            <a:off x="16931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5" name="Google Shape;35;p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 name="Google Shape;36;p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7" name="Google Shape;37;p5"/>
          <p:cNvCxnSpPr/>
          <p:nvPr/>
        </p:nvCxnSpPr>
        <p:spPr>
          <a:xfrm flipH="1">
            <a:off x="6935750" y="3931325"/>
            <a:ext cx="2549400" cy="13545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5" name="Google Shape;75;p13"/>
          <p:cNvSpPr txBox="1">
            <a:spLocks noGrp="1"/>
          </p:cNvSpPr>
          <p:nvPr>
            <p:ph type="subTitle" idx="1"/>
          </p:nvPr>
        </p:nvSpPr>
        <p:spPr>
          <a:xfrm>
            <a:off x="50010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6" name="Google Shape;76;p13"/>
          <p:cNvSpPr txBox="1">
            <a:spLocks noGrp="1"/>
          </p:cNvSpPr>
          <p:nvPr>
            <p:ph type="subTitle" idx="2"/>
          </p:nvPr>
        </p:nvSpPr>
        <p:spPr>
          <a:xfrm>
            <a:off x="50010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7" name="Google Shape;77;p13"/>
          <p:cNvSpPr txBox="1">
            <a:spLocks noGrp="1"/>
          </p:cNvSpPr>
          <p:nvPr>
            <p:ph type="subTitle" idx="3"/>
          </p:nvPr>
        </p:nvSpPr>
        <p:spPr>
          <a:xfrm>
            <a:off x="1655200" y="194292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78" name="Google Shape;78;p13"/>
          <p:cNvSpPr txBox="1">
            <a:spLocks noGrp="1"/>
          </p:cNvSpPr>
          <p:nvPr>
            <p:ph type="subTitle" idx="4"/>
          </p:nvPr>
        </p:nvSpPr>
        <p:spPr>
          <a:xfrm>
            <a:off x="1655200" y="2255100"/>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9" name="Google Shape;79;p13"/>
          <p:cNvSpPr txBox="1">
            <a:spLocks noGrp="1"/>
          </p:cNvSpPr>
          <p:nvPr>
            <p:ph type="subTitle" idx="5"/>
          </p:nvPr>
        </p:nvSpPr>
        <p:spPr>
          <a:xfrm>
            <a:off x="50010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0" name="Google Shape;80;p13"/>
          <p:cNvSpPr txBox="1">
            <a:spLocks noGrp="1"/>
          </p:cNvSpPr>
          <p:nvPr>
            <p:ph type="subTitle" idx="6"/>
          </p:nvPr>
        </p:nvSpPr>
        <p:spPr>
          <a:xfrm>
            <a:off x="500100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1" name="Google Shape;81;p13"/>
          <p:cNvSpPr txBox="1">
            <a:spLocks noGrp="1"/>
          </p:cNvSpPr>
          <p:nvPr>
            <p:ph type="subTitle" idx="7"/>
          </p:nvPr>
        </p:nvSpPr>
        <p:spPr>
          <a:xfrm>
            <a:off x="1655200" y="37239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82" name="Google Shape;82;p13"/>
          <p:cNvSpPr txBox="1">
            <a:spLocks noGrp="1"/>
          </p:cNvSpPr>
          <p:nvPr>
            <p:ph type="subTitle" idx="8"/>
          </p:nvPr>
        </p:nvSpPr>
        <p:spPr>
          <a:xfrm>
            <a:off x="1655250" y="403612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3" name="Google Shape;83;p13"/>
          <p:cNvSpPr txBox="1">
            <a:spLocks noGrp="1"/>
          </p:cNvSpPr>
          <p:nvPr>
            <p:ph type="title" idx="9" hasCustomPrompt="1"/>
          </p:nvPr>
        </p:nvSpPr>
        <p:spPr>
          <a:xfrm>
            <a:off x="23786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a:spLocks noGrp="1"/>
          </p:cNvSpPr>
          <p:nvPr>
            <p:ph type="title" idx="13" hasCustomPrompt="1"/>
          </p:nvPr>
        </p:nvSpPr>
        <p:spPr>
          <a:xfrm>
            <a:off x="5724450" y="130358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a:spLocks noGrp="1"/>
          </p:cNvSpPr>
          <p:nvPr>
            <p:ph type="title" idx="14" hasCustomPrompt="1"/>
          </p:nvPr>
        </p:nvSpPr>
        <p:spPr>
          <a:xfrm>
            <a:off x="237870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a:spLocks noGrp="1"/>
          </p:cNvSpPr>
          <p:nvPr>
            <p:ph type="title" idx="15" hasCustomPrompt="1"/>
          </p:nvPr>
        </p:nvSpPr>
        <p:spPr>
          <a:xfrm>
            <a:off x="5724450" y="3082738"/>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8" name="Google Shape;88;p1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Shape 137"/>
        <p:cNvGrpSpPr/>
        <p:nvPr/>
      </p:nvGrpSpPr>
      <p:grpSpPr>
        <a:xfrm>
          <a:off x="0" y="0"/>
          <a:ext cx="0" cy="0"/>
          <a:chOff x="0" y="0"/>
          <a:chExt cx="0" cy="0"/>
        </a:xfrm>
      </p:grpSpPr>
      <p:sp>
        <p:nvSpPr>
          <p:cNvPr id="138" name="Google Shape;138;p19"/>
          <p:cNvSpPr txBox="1">
            <a:spLocks noGrp="1"/>
          </p:cNvSpPr>
          <p:nvPr>
            <p:ph type="title"/>
          </p:nvPr>
        </p:nvSpPr>
        <p:spPr>
          <a:xfrm>
            <a:off x="3742850" y="1549875"/>
            <a:ext cx="4545000" cy="1291200"/>
          </a:xfrm>
          <a:prstGeom prst="rect">
            <a:avLst/>
          </a:prstGeom>
        </p:spPr>
        <p:txBody>
          <a:bodyPr spcFirstLastPara="1" wrap="square" lIns="91425" tIns="91425" rIns="91425" bIns="91425" anchor="t" anchorCtr="0">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a:endParaRPr/>
          </a:p>
        </p:txBody>
      </p:sp>
      <p:sp>
        <p:nvSpPr>
          <p:cNvPr id="139" name="Google Shape;139;p19"/>
          <p:cNvSpPr txBox="1">
            <a:spLocks noGrp="1"/>
          </p:cNvSpPr>
          <p:nvPr>
            <p:ph type="subTitle" idx="1"/>
          </p:nvPr>
        </p:nvSpPr>
        <p:spPr>
          <a:xfrm>
            <a:off x="3742850" y="3039213"/>
            <a:ext cx="45450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cxnSp>
        <p:nvCxnSpPr>
          <p:cNvPr id="140" name="Google Shape;140;p1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1" name="Google Shape;141;p1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2" name="Google Shape;142;p1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3" name="Google Shape;143;p1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4" name="Google Shape;144;p19"/>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5" name="Google Shape;145;p19"/>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Shape 146"/>
        <p:cNvGrpSpPr/>
        <p:nvPr/>
      </p:nvGrpSpPr>
      <p:grpSpPr>
        <a:xfrm>
          <a:off x="0" y="0"/>
          <a:ext cx="0" cy="0"/>
          <a:chOff x="0" y="0"/>
          <a:chExt cx="0" cy="0"/>
        </a:xfrm>
      </p:grpSpPr>
      <p:sp>
        <p:nvSpPr>
          <p:cNvPr id="147" name="Google Shape;147;p20"/>
          <p:cNvSpPr txBox="1">
            <a:spLocks noGrp="1"/>
          </p:cNvSpPr>
          <p:nvPr>
            <p:ph type="title"/>
          </p:nvPr>
        </p:nvSpPr>
        <p:spPr>
          <a:xfrm>
            <a:off x="1677925" y="2511803"/>
            <a:ext cx="3714900" cy="805800"/>
          </a:xfrm>
          <a:prstGeom prst="rect">
            <a:avLst/>
          </a:prstGeom>
          <a:noFill/>
        </p:spPr>
        <p:txBody>
          <a:bodyPr spcFirstLastPara="1" wrap="square" lIns="91425" tIns="91425" rIns="91425" bIns="91425" anchor="t" anchorCtr="0">
            <a:noAutofit/>
          </a:bodyPr>
          <a:lstStyle>
            <a:lvl1pPr lvl="0" algn="r"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8" name="Google Shape;148;p20"/>
          <p:cNvSpPr txBox="1">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49" name="Google Shape;149;p20"/>
          <p:cNvSpPr txBox="1">
            <a:spLocks noGrp="1"/>
          </p:cNvSpPr>
          <p:nvPr>
            <p:ph type="subTitle" idx="1"/>
          </p:nvPr>
        </p:nvSpPr>
        <p:spPr>
          <a:xfrm>
            <a:off x="831625" y="3244000"/>
            <a:ext cx="4561200" cy="393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50" name="Google Shape;150;p20"/>
          <p:cNvCxnSpPr/>
          <p:nvPr/>
        </p:nvCxnSpPr>
        <p:spPr>
          <a:xfrm rot="10800000">
            <a:off x="-30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1" name="Google Shape;151;p20"/>
          <p:cNvCxnSpPr/>
          <p:nvPr/>
        </p:nvCxnSpPr>
        <p:spPr>
          <a:xfrm rot="10800000">
            <a:off x="-30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2" name="Google Shape;152;p20"/>
          <p:cNvCxnSpPr/>
          <p:nvPr/>
        </p:nvCxnSpPr>
        <p:spPr>
          <a:xfrm>
            <a:off x="-11287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3" name="Google Shape;153;p20"/>
          <p:cNvCxnSpPr/>
          <p:nvPr/>
        </p:nvCxnSpPr>
        <p:spPr>
          <a:xfrm>
            <a:off x="790872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Shape 159"/>
        <p:cNvGrpSpPr/>
        <p:nvPr/>
      </p:nvGrpSpPr>
      <p:grpSpPr>
        <a:xfrm>
          <a:off x="0" y="0"/>
          <a:ext cx="0" cy="0"/>
          <a:chOff x="0" y="0"/>
          <a:chExt cx="0" cy="0"/>
        </a:xfrm>
      </p:grpSpPr>
      <p:cxnSp>
        <p:nvCxnSpPr>
          <p:cNvPr id="160" name="Google Shape;160;p2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1" name="Google Shape;161;p2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2" name="Google Shape;162;p2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3" name="Google Shape;163;p2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4" name="Google Shape;164;p2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5" name="Google Shape;165;p22"/>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66" name="Google Shape;166;p22"/>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Shape 395"/>
        <p:cNvGrpSpPr/>
        <p:nvPr/>
      </p:nvGrpSpPr>
      <p:grpSpPr>
        <a:xfrm>
          <a:off x="0" y="0"/>
          <a:ext cx="0" cy="0"/>
          <a:chOff x="0" y="0"/>
          <a:chExt cx="0" cy="0"/>
        </a:xfrm>
      </p:grpSpPr>
      <p:sp>
        <p:nvSpPr>
          <p:cNvPr id="396" name="Google Shape;396;p43"/>
          <p:cNvSpPr txBox="1">
            <a:spLocks noGrp="1"/>
          </p:cNvSpPr>
          <p:nvPr>
            <p:ph type="title"/>
          </p:nvPr>
        </p:nvSpPr>
        <p:spPr>
          <a:xfrm>
            <a:off x="803750" y="2040496"/>
            <a:ext cx="4087500" cy="673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7" name="Google Shape;397;p43"/>
          <p:cNvSpPr txBox="1">
            <a:spLocks noGrp="1"/>
          </p:cNvSpPr>
          <p:nvPr>
            <p:ph type="subTitle" idx="1"/>
          </p:nvPr>
        </p:nvSpPr>
        <p:spPr>
          <a:xfrm>
            <a:off x="803750" y="2693525"/>
            <a:ext cx="3159300" cy="55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398" name="Google Shape;398;p4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99" name="Google Shape;399;p4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441"/>
        <p:cNvGrpSpPr/>
        <p:nvPr/>
      </p:nvGrpSpPr>
      <p:grpSpPr>
        <a:xfrm>
          <a:off x="0" y="0"/>
          <a:ext cx="0" cy="0"/>
          <a:chOff x="0" y="0"/>
          <a:chExt cx="0" cy="0"/>
        </a:xfrm>
      </p:grpSpPr>
      <p:sp>
        <p:nvSpPr>
          <p:cNvPr id="442" name="Google Shape;442;p49"/>
          <p:cNvSpPr txBox="1">
            <a:spLocks noGrp="1"/>
          </p:cNvSpPr>
          <p:nvPr>
            <p:ph type="title"/>
          </p:nvPr>
        </p:nvSpPr>
        <p:spPr>
          <a:xfrm>
            <a:off x="2832900" y="791200"/>
            <a:ext cx="3478200" cy="92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300"/>
              <a:buNone/>
              <a:defRPr sz="7000"/>
            </a:lvl1pPr>
            <a:lvl2pPr lvl="1" algn="ctr" rtl="0">
              <a:spcBef>
                <a:spcPts val="0"/>
              </a:spcBef>
              <a:spcAft>
                <a:spcPts val="0"/>
              </a:spcAft>
              <a:buSzPts val="3000"/>
              <a:buNone/>
              <a:defRPr>
                <a:latin typeface="Open Sans"/>
                <a:ea typeface="Open Sans"/>
                <a:cs typeface="Open Sans"/>
                <a:sym typeface="Open Sans"/>
              </a:defRPr>
            </a:lvl2pPr>
            <a:lvl3pPr lvl="2" algn="ctr" rtl="0">
              <a:spcBef>
                <a:spcPts val="0"/>
              </a:spcBef>
              <a:spcAft>
                <a:spcPts val="0"/>
              </a:spcAft>
              <a:buSzPts val="3000"/>
              <a:buNone/>
              <a:defRPr>
                <a:latin typeface="Open Sans"/>
                <a:ea typeface="Open Sans"/>
                <a:cs typeface="Open Sans"/>
                <a:sym typeface="Open Sans"/>
              </a:defRPr>
            </a:lvl3pPr>
            <a:lvl4pPr lvl="3" algn="ctr" rtl="0">
              <a:spcBef>
                <a:spcPts val="0"/>
              </a:spcBef>
              <a:spcAft>
                <a:spcPts val="0"/>
              </a:spcAft>
              <a:buSzPts val="3000"/>
              <a:buNone/>
              <a:defRPr>
                <a:latin typeface="Open Sans"/>
                <a:ea typeface="Open Sans"/>
                <a:cs typeface="Open Sans"/>
                <a:sym typeface="Open Sans"/>
              </a:defRPr>
            </a:lvl4pPr>
            <a:lvl5pPr lvl="4" algn="ctr" rtl="0">
              <a:spcBef>
                <a:spcPts val="0"/>
              </a:spcBef>
              <a:spcAft>
                <a:spcPts val="0"/>
              </a:spcAft>
              <a:buSzPts val="3000"/>
              <a:buNone/>
              <a:defRPr>
                <a:latin typeface="Open Sans"/>
                <a:ea typeface="Open Sans"/>
                <a:cs typeface="Open Sans"/>
                <a:sym typeface="Open Sans"/>
              </a:defRPr>
            </a:lvl5pPr>
            <a:lvl6pPr lvl="5" algn="ctr" rtl="0">
              <a:spcBef>
                <a:spcPts val="0"/>
              </a:spcBef>
              <a:spcAft>
                <a:spcPts val="0"/>
              </a:spcAft>
              <a:buSzPts val="3000"/>
              <a:buNone/>
              <a:defRPr>
                <a:latin typeface="Open Sans"/>
                <a:ea typeface="Open Sans"/>
                <a:cs typeface="Open Sans"/>
                <a:sym typeface="Open Sans"/>
              </a:defRPr>
            </a:lvl6pPr>
            <a:lvl7pPr lvl="6" algn="ctr" rtl="0">
              <a:spcBef>
                <a:spcPts val="0"/>
              </a:spcBef>
              <a:spcAft>
                <a:spcPts val="0"/>
              </a:spcAft>
              <a:buSzPts val="3000"/>
              <a:buNone/>
              <a:defRPr>
                <a:latin typeface="Open Sans"/>
                <a:ea typeface="Open Sans"/>
                <a:cs typeface="Open Sans"/>
                <a:sym typeface="Open Sans"/>
              </a:defRPr>
            </a:lvl7pPr>
            <a:lvl8pPr lvl="7" algn="ctr" rtl="0">
              <a:spcBef>
                <a:spcPts val="0"/>
              </a:spcBef>
              <a:spcAft>
                <a:spcPts val="0"/>
              </a:spcAft>
              <a:buSzPts val="3000"/>
              <a:buNone/>
              <a:defRPr>
                <a:latin typeface="Open Sans"/>
                <a:ea typeface="Open Sans"/>
                <a:cs typeface="Open Sans"/>
                <a:sym typeface="Open Sans"/>
              </a:defRPr>
            </a:lvl8pPr>
            <a:lvl9pPr lvl="8" algn="ctr" rtl="0">
              <a:spcBef>
                <a:spcPts val="0"/>
              </a:spcBef>
              <a:spcAft>
                <a:spcPts val="0"/>
              </a:spcAft>
              <a:buSzPts val="3000"/>
              <a:buNone/>
              <a:defRPr>
                <a:latin typeface="Open Sans"/>
                <a:ea typeface="Open Sans"/>
                <a:cs typeface="Open Sans"/>
                <a:sym typeface="Open Sans"/>
              </a:defRPr>
            </a:lvl9pPr>
          </a:lstStyle>
          <a:p>
            <a:endParaRPr/>
          </a:p>
        </p:txBody>
      </p:sp>
      <p:sp>
        <p:nvSpPr>
          <p:cNvPr id="443" name="Google Shape;443;p49"/>
          <p:cNvSpPr txBox="1">
            <a:spLocks noGrp="1"/>
          </p:cNvSpPr>
          <p:nvPr>
            <p:ph type="subTitle" idx="1"/>
          </p:nvPr>
        </p:nvSpPr>
        <p:spPr>
          <a:xfrm>
            <a:off x="2983350" y="1749425"/>
            <a:ext cx="3177300" cy="9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4" name="Google Shape;444;p49"/>
          <p:cNvSpPr txBox="1"/>
          <p:nvPr/>
        </p:nvSpPr>
        <p:spPr>
          <a:xfrm>
            <a:off x="2900450" y="3438275"/>
            <a:ext cx="33432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lang="en" sz="1100" b="1">
                <a:solidFill>
                  <a:schemeClr val="dk2"/>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100">
                <a:solidFill>
                  <a:schemeClr val="dk2"/>
                </a:solidFill>
                <a:latin typeface="Montserrat"/>
                <a:ea typeface="Montserrat"/>
                <a:cs typeface="Montserrat"/>
                <a:sym typeface="Montserrat"/>
              </a:rPr>
              <a:t>, including icons by </a:t>
            </a:r>
            <a:r>
              <a:rPr lang="en" sz="1100" b="1">
                <a:solidFill>
                  <a:schemeClr val="dk2"/>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100">
                <a:solidFill>
                  <a:schemeClr val="dk2"/>
                </a:solidFill>
                <a:latin typeface="Montserrat"/>
                <a:ea typeface="Montserrat"/>
                <a:cs typeface="Montserrat"/>
                <a:sym typeface="Montserrat"/>
              </a:rPr>
              <a:t>, infographics &amp; images by </a:t>
            </a:r>
            <a:r>
              <a:rPr lang="en" sz="1100" b="1">
                <a:solidFill>
                  <a:schemeClr val="dk2"/>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endParaRPr sz="1100" b="1" dirty="0">
              <a:solidFill>
                <a:schemeClr val="dk2"/>
              </a:solidFill>
              <a:latin typeface="Montserrat"/>
              <a:ea typeface="Montserrat"/>
              <a:cs typeface="Montserrat"/>
              <a:sym typeface="Montserrat"/>
            </a:endParaRPr>
          </a:p>
        </p:txBody>
      </p:sp>
      <p:cxnSp>
        <p:nvCxnSpPr>
          <p:cNvPr id="445" name="Google Shape;445;p4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6" name="Google Shape;446;p49"/>
          <p:cNvCxnSpPr/>
          <p:nvPr/>
        </p:nvCxnSpPr>
        <p:spPr>
          <a:xfrm>
            <a:off x="-257975"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47" name="Google Shape;447;p4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8" name="Google Shape;448;p49"/>
          <p:cNvCxnSpPr/>
          <p:nvPr/>
        </p:nvCxnSpPr>
        <p:spPr>
          <a:xfrm>
            <a:off x="6467450"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1" name="Google Shape;451;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5" name="Google Shape;455;p51"/>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6" name="Google Shape;456;p51"/>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9" name="Google Shape;459;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3" name="Google Shape;463;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4" name="Google Shape;464;p5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5" name="Google Shape;465;p5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6" name="Google Shape;466;p5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7" name="Google Shape;467;p5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5" r:id="rId3"/>
    <p:sldLayoutId id="2147483658" r:id="rId4"/>
    <p:sldLayoutId id="2147483659" r:id="rId5"/>
    <p:sldLayoutId id="2147483665" r:id="rId6"/>
    <p:sldLayoutId id="2147483666" r:id="rId7"/>
    <p:sldLayoutId id="2147483668" r:id="rId8"/>
    <p:sldLayoutId id="2147483689" r:id="rId9"/>
    <p:sldLayoutId id="2147483695" r:id="rId10"/>
    <p:sldLayoutId id="2147483696" r:id="rId11"/>
    <p:sldLayoutId id="2147483697" r:id="rId12"/>
    <p:sldLayoutId id="2147483698" r:id="rId13"/>
    <p:sldLayoutId id="2147483699"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image" Target="../media/image31.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image" Target="../media/image38.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5.xml"/><Relationship Id="rId5" Type="http://schemas.openxmlformats.org/officeDocument/2006/relationships/image" Target="../media/image41.pn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5.xml"/><Relationship Id="rId5" Type="http://schemas.openxmlformats.org/officeDocument/2006/relationships/image" Target="../media/image46.png"/><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image" Target="../media/image49.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5.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1"/>
        <p:cNvGrpSpPr/>
        <p:nvPr/>
      </p:nvGrpSpPr>
      <p:grpSpPr>
        <a:xfrm>
          <a:off x="0" y="0"/>
          <a:ext cx="0" cy="0"/>
          <a:chOff x="0" y="0"/>
          <a:chExt cx="0" cy="0"/>
        </a:xfrm>
      </p:grpSpPr>
      <p:sp>
        <p:nvSpPr>
          <p:cNvPr id="482" name="Google Shape;482;p59"/>
          <p:cNvSpPr txBox="1">
            <a:spLocks noGrp="1"/>
          </p:cNvSpPr>
          <p:nvPr>
            <p:ph type="ctrTitle"/>
          </p:nvPr>
        </p:nvSpPr>
        <p:spPr>
          <a:xfrm>
            <a:off x="228600" y="1378526"/>
            <a:ext cx="7875475" cy="1499809"/>
          </a:xfrm>
          <a:prstGeom prst="rect">
            <a:avLst/>
          </a:prstGeom>
        </p:spPr>
        <p:txBody>
          <a:bodyPr spcFirstLastPara="1" wrap="square" lIns="91425" tIns="91425" rIns="91425" bIns="91425" anchor="b" anchorCtr="0">
            <a:noAutofit/>
          </a:bodyPr>
          <a:lstStyle/>
          <a:p>
            <a:r>
              <a:rPr lang="pt-BR" sz="5400" dirty="0">
                <a:solidFill>
                  <a:srgbClr val="7B9B71"/>
                </a:solidFill>
              </a:rPr>
              <a:t>BINFO2 M5 </a:t>
            </a:r>
            <a:br>
              <a:rPr lang="pt-BR" sz="5400" dirty="0"/>
            </a:br>
            <a:r>
              <a:rPr lang="pt-BR" sz="2400" dirty="0">
                <a:solidFill>
                  <a:schemeClr val="tx1"/>
                </a:solidFill>
              </a:rPr>
              <a:t>Repte Disseny i programació d’aplicacions informàtiques</a:t>
            </a:r>
            <a:endParaRPr lang="pt-BR" sz="4400" dirty="0">
              <a:solidFill>
                <a:schemeClr val="tx1"/>
              </a:solidFill>
            </a:endParaRPr>
          </a:p>
        </p:txBody>
      </p:sp>
      <p:sp>
        <p:nvSpPr>
          <p:cNvPr id="483" name="Google Shape;483;p59"/>
          <p:cNvSpPr txBox="1">
            <a:spLocks noGrp="1"/>
          </p:cNvSpPr>
          <p:nvPr>
            <p:ph type="subTitle" idx="1"/>
          </p:nvPr>
        </p:nvSpPr>
        <p:spPr>
          <a:xfrm>
            <a:off x="1040000" y="2982247"/>
            <a:ext cx="7064100"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solidFill>
                  <a:schemeClr val="dk1"/>
                </a:solidFill>
              </a:rPr>
              <a:t>Alumne: Eric Torrontera Ruiz</a:t>
            </a:r>
          </a:p>
          <a:p>
            <a:pPr marL="0" lvl="0" indent="0" algn="ctr" rtl="0">
              <a:spcBef>
                <a:spcPts val="0"/>
              </a:spcBef>
              <a:spcAft>
                <a:spcPts val="0"/>
              </a:spcAft>
              <a:buClr>
                <a:schemeClr val="dk1"/>
              </a:buClr>
              <a:buSzPts val="1100"/>
              <a:buFont typeface="Arial"/>
              <a:buNone/>
            </a:pPr>
            <a:endParaRPr dirty="0"/>
          </a:p>
        </p:txBody>
      </p:sp>
      <p:sp>
        <p:nvSpPr>
          <p:cNvPr id="2" name="Google Shape;483;p59">
            <a:extLst>
              <a:ext uri="{FF2B5EF4-FFF2-40B4-BE49-F238E27FC236}">
                <a16:creationId xmlns:a16="http://schemas.microsoft.com/office/drawing/2014/main" id="{C59761A6-8A0F-3EFC-2B7C-4BDA854D7EF2}"/>
              </a:ext>
            </a:extLst>
          </p:cNvPr>
          <p:cNvSpPr txBox="1">
            <a:spLocks/>
          </p:cNvSpPr>
          <p:nvPr/>
        </p:nvSpPr>
        <p:spPr>
          <a:xfrm>
            <a:off x="1040005" y="3349393"/>
            <a:ext cx="7064100" cy="441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Montserrat"/>
              <a:buNone/>
              <a:defRPr sz="1600" b="0" i="0" u="none" strike="noStrike" cap="none">
                <a:solidFill>
                  <a:schemeClr val="dk2"/>
                </a:solidFill>
                <a:latin typeface="Montserrat"/>
                <a:ea typeface="Montserrat"/>
                <a:cs typeface="Montserrat"/>
                <a:sym typeface="Montserrat"/>
              </a:defRPr>
            </a:lvl1pPr>
            <a:lvl2pPr marL="914400" marR="0" lvl="1"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2pPr>
            <a:lvl3pPr marL="1371600" marR="0" lvl="2"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3pPr>
            <a:lvl4pPr marL="1828800" marR="0" lvl="3"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4pPr>
            <a:lvl5pPr marL="2286000" marR="0" lvl="4"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5pPr>
            <a:lvl6pPr marL="2743200" marR="0" lvl="5"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6pPr>
            <a:lvl7pPr marL="3200400" marR="0" lvl="6"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7pPr>
            <a:lvl8pPr marL="3657600" marR="0" lvl="7"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8pPr>
            <a:lvl9pPr marL="4114800" marR="0" lvl="8" indent="-317500" algn="ctr" rtl="0">
              <a:lnSpc>
                <a:spcPct val="100000"/>
              </a:lnSpc>
              <a:spcBef>
                <a:spcPts val="0"/>
              </a:spcBef>
              <a:spcAft>
                <a:spcPts val="0"/>
              </a:spcAft>
              <a:buClr>
                <a:schemeClr val="dk2"/>
              </a:buClr>
              <a:buSzPts val="2800"/>
              <a:buFont typeface="Montserrat"/>
              <a:buNone/>
              <a:defRPr sz="2800" b="0" i="0" u="none" strike="noStrike" cap="none">
                <a:solidFill>
                  <a:schemeClr val="dk2"/>
                </a:solidFill>
                <a:latin typeface="Montserrat"/>
                <a:ea typeface="Montserrat"/>
                <a:cs typeface="Montserrat"/>
                <a:sym typeface="Montserrat"/>
              </a:defRPr>
            </a:lvl9pPr>
          </a:lstStyle>
          <a:p>
            <a:pPr marL="0" indent="0">
              <a:buClr>
                <a:schemeClr val="dk1"/>
              </a:buClr>
              <a:buSzPts val="1100"/>
            </a:pPr>
            <a:r>
              <a:rPr lang="ca-ES" dirty="0">
                <a:solidFill>
                  <a:schemeClr val="dk1"/>
                </a:solidFill>
              </a:rPr>
              <a:t>Professorat: </a:t>
            </a:r>
            <a:r>
              <a:rPr lang="en-US" dirty="0" err="1"/>
              <a:t>Montse</a:t>
            </a:r>
            <a:r>
              <a:rPr lang="en-US" dirty="0"/>
              <a:t> </a:t>
            </a:r>
            <a:r>
              <a:rPr lang="en-US" dirty="0" err="1"/>
              <a:t>Pellicer</a:t>
            </a:r>
            <a:r>
              <a:rPr lang="en-US" dirty="0"/>
              <a:t>, Ana Rueda, Miquel Viladrich </a:t>
            </a:r>
          </a:p>
        </p:txBody>
      </p:sp>
    </p:spTree>
    <p:extLst>
      <p:ext uri="{BB962C8B-B14F-4D97-AF65-F5344CB8AC3E}">
        <p14:creationId xmlns:p14="http://schemas.microsoft.com/office/powerpoint/2010/main" val="3637460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anim calcmode="lin" valueType="num">
                                      <p:cBhvr additive="base">
                                        <p:cTn id="7" dur="1000"/>
                                        <p:tgtEl>
                                          <p:spTgt spid="482"/>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483"/>
                                        </p:tgtEl>
                                        <p:attrNameLst>
                                          <p:attrName>style.visibility</p:attrName>
                                        </p:attrNameLst>
                                      </p:cBhvr>
                                      <p:to>
                                        <p:strVal val="visible"/>
                                      </p:to>
                                    </p:set>
                                    <p:anim calcmode="lin" valueType="num">
                                      <p:cBhvr additive="base">
                                        <p:cTn id="10" dur="1000"/>
                                        <p:tgtEl>
                                          <p:spTgt spid="483"/>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1000"/>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895949" y="1350818"/>
            <a:ext cx="4444977" cy="271108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sz="1600" dirty="0">
                <a:effectLst/>
                <a:latin typeface="Arial" panose="020B0604020202020204" pitchFamily="34" charset="0"/>
                <a:ea typeface="Times New Roman" panose="02020603050405020304" pitchFamily="18" charset="0"/>
              </a:rPr>
              <a:t>L’empresa escollida és una </a:t>
            </a:r>
            <a:r>
              <a:rPr lang="ca-ES" sz="1600" b="1" dirty="0">
                <a:effectLst/>
                <a:latin typeface="Arial" panose="020B0604020202020204" pitchFamily="34" charset="0"/>
                <a:ea typeface="Times New Roman" panose="02020603050405020304" pitchFamily="18" charset="0"/>
              </a:rPr>
              <a:t>petita llibreria </a:t>
            </a:r>
            <a:r>
              <a:rPr lang="ca-ES" sz="1600" dirty="0">
                <a:effectLst/>
                <a:latin typeface="Arial" panose="020B0604020202020204" pitchFamily="34" charset="0"/>
                <a:ea typeface="Times New Roman" panose="02020603050405020304" pitchFamily="18" charset="0"/>
              </a:rPr>
              <a:t>que volen obrir dos germans Eric i Isaac al casc antic de Sant Julià de </a:t>
            </a:r>
            <a:r>
              <a:rPr lang="ca-ES" sz="1600" dirty="0" err="1">
                <a:latin typeface="Arial" panose="020B0604020202020204" pitchFamily="34" charset="0"/>
                <a:ea typeface="Times New Roman" panose="02020603050405020304" pitchFamily="18" charset="0"/>
              </a:rPr>
              <a:t>L</a:t>
            </a:r>
            <a:r>
              <a:rPr lang="ca-ES" sz="1600" dirty="0" err="1">
                <a:effectLst/>
                <a:latin typeface="Arial" panose="020B0604020202020204" pitchFamily="34" charset="0"/>
                <a:ea typeface="Times New Roman" panose="02020603050405020304" pitchFamily="18" charset="0"/>
              </a:rPr>
              <a:t>òria</a:t>
            </a:r>
            <a:r>
              <a:rPr lang="ca-ES" sz="1600" dirty="0">
                <a:effectLst/>
                <a:latin typeface="Arial" panose="020B0604020202020204" pitchFamily="34" charset="0"/>
                <a:ea typeface="Times New Roman" panose="02020603050405020304" pitchFamily="18" charset="0"/>
              </a:rPr>
              <a:t>. La seva primera </a:t>
            </a:r>
            <a:r>
              <a:rPr lang="ca-ES" sz="1600" b="1" dirty="0">
                <a:effectLst/>
                <a:latin typeface="Arial" panose="020B0604020202020204" pitchFamily="34" charset="0"/>
                <a:ea typeface="Times New Roman" panose="02020603050405020304" pitchFamily="18" charset="0"/>
              </a:rPr>
              <a:t>botiga física </a:t>
            </a:r>
            <a:r>
              <a:rPr lang="ca-ES" sz="1600" dirty="0">
                <a:effectLst/>
                <a:latin typeface="Arial" panose="020B0604020202020204" pitchFamily="34" charset="0"/>
                <a:ea typeface="Times New Roman" panose="02020603050405020304" pitchFamily="18" charset="0"/>
              </a:rPr>
              <a:t>estarà dedicada exclusivament a la venda de llibres, a la par que </a:t>
            </a:r>
            <a:r>
              <a:rPr lang="ca-ES" sz="1600" b="1" dirty="0">
                <a:effectLst/>
                <a:latin typeface="Arial" panose="020B0604020202020204" pitchFamily="34" charset="0"/>
                <a:ea typeface="Times New Roman" panose="02020603050405020304" pitchFamily="18" charset="0"/>
              </a:rPr>
              <a:t>s’integrarà al món del </a:t>
            </a:r>
            <a:r>
              <a:rPr lang="ca-ES" sz="1600" b="1" dirty="0" err="1">
                <a:effectLst/>
                <a:latin typeface="Arial" panose="020B0604020202020204" pitchFamily="34" charset="0"/>
                <a:ea typeface="Times New Roman" panose="02020603050405020304" pitchFamily="18" charset="0"/>
              </a:rPr>
              <a:t>eCommerce</a:t>
            </a:r>
            <a:r>
              <a:rPr lang="ca-ES" sz="1600" b="1" dirty="0">
                <a:effectLst/>
                <a:latin typeface="Arial" panose="020B0604020202020204" pitchFamily="34" charset="0"/>
                <a:ea typeface="Times New Roman" panose="02020603050405020304" pitchFamily="18" charset="0"/>
              </a:rPr>
              <a:t> </a:t>
            </a:r>
            <a:r>
              <a:rPr lang="ca-ES" sz="1600" dirty="0">
                <a:effectLst/>
                <a:latin typeface="Arial" panose="020B0604020202020204" pitchFamily="34" charset="0"/>
                <a:ea typeface="Times New Roman" panose="02020603050405020304" pitchFamily="18" charset="0"/>
              </a:rPr>
              <a:t>obrint un portal de venda de llibres per internet.</a:t>
            </a:r>
            <a:endParaRPr lang="ca-ES" sz="1200" dirty="0"/>
          </a:p>
        </p:txBody>
      </p:sp>
      <p:sp>
        <p:nvSpPr>
          <p:cNvPr id="547" name="Google Shape;547;p65"/>
          <p:cNvSpPr txBox="1">
            <a:spLocks noGrp="1"/>
          </p:cNvSpPr>
          <p:nvPr>
            <p:ph type="title"/>
          </p:nvPr>
        </p:nvSpPr>
        <p:spPr>
          <a:xfrm>
            <a:off x="895949" y="720796"/>
            <a:ext cx="3327708"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7B9B71"/>
                </a:solidFill>
              </a:rPr>
              <a:t>Racó del Llibre.SL</a:t>
            </a:r>
            <a:endParaRPr dirty="0">
              <a:solidFill>
                <a:srgbClr val="7B9B71"/>
              </a:solidFill>
            </a:endParaRPr>
          </a:p>
        </p:txBody>
      </p:sp>
      <p:pic>
        <p:nvPicPr>
          <p:cNvPr id="4" name="Picture 3">
            <a:extLst>
              <a:ext uri="{FF2B5EF4-FFF2-40B4-BE49-F238E27FC236}">
                <a16:creationId xmlns:a16="http://schemas.microsoft.com/office/drawing/2014/main" id="{CAA941B8-49D9-257B-D1B0-445F1F7EE039}"/>
              </a:ext>
            </a:extLst>
          </p:cNvPr>
          <p:cNvPicPr>
            <a:picLocks noChangeAspect="1"/>
          </p:cNvPicPr>
          <p:nvPr/>
        </p:nvPicPr>
        <p:blipFill>
          <a:blip r:embed="rId3"/>
          <a:stretch>
            <a:fillRect/>
          </a:stretch>
        </p:blipFill>
        <p:spPr>
          <a:xfrm>
            <a:off x="5701047" y="1135673"/>
            <a:ext cx="1866725" cy="24508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a:extLst>
              <a:ext uri="{FF2B5EF4-FFF2-40B4-BE49-F238E27FC236}">
                <a16:creationId xmlns:a16="http://schemas.microsoft.com/office/drawing/2014/main" id="{640FAD43-3218-EED6-2F18-C7730AA6E2F2}"/>
              </a:ext>
            </a:extLst>
          </p:cNvPr>
          <p:cNvSpPr txBox="1"/>
          <p:nvPr/>
        </p:nvSpPr>
        <p:spPr>
          <a:xfrm>
            <a:off x="895949" y="3899484"/>
            <a:ext cx="4189751" cy="523220"/>
          </a:xfrm>
          <a:prstGeom prst="rect">
            <a:avLst/>
          </a:prstGeom>
          <a:noFill/>
        </p:spPr>
        <p:txBody>
          <a:bodyPr wrap="square" rtlCol="0">
            <a:spAutoFit/>
          </a:bodyPr>
          <a:lstStyle/>
          <a:p>
            <a:r>
              <a:rPr lang="en-US" dirty="0" err="1"/>
              <a:t>Idealista</a:t>
            </a:r>
            <a:r>
              <a:rPr lang="en-US" dirty="0"/>
              <a:t>. (2024). [Petit Local </a:t>
            </a:r>
            <a:r>
              <a:rPr lang="en-US" dirty="0" err="1"/>
              <a:t>comercial</a:t>
            </a:r>
            <a:r>
              <a:rPr lang="en-US" dirty="0"/>
              <a:t>]. </a:t>
            </a:r>
            <a:r>
              <a:rPr lang="en-US" dirty="0">
                <a:solidFill>
                  <a:srgbClr val="7B9B71"/>
                </a:solidFill>
              </a:rPr>
              <a:t>https://www.idealista.com/inmueble/102751421</a:t>
            </a:r>
            <a:r>
              <a:rPr lang="en-US" dirty="0"/>
              <a:t>/</a:t>
            </a:r>
          </a:p>
        </p:txBody>
      </p:sp>
      <p:pic>
        <p:nvPicPr>
          <p:cNvPr id="3" name="Picture 2">
            <a:extLst>
              <a:ext uri="{FF2B5EF4-FFF2-40B4-BE49-F238E27FC236}">
                <a16:creationId xmlns:a16="http://schemas.microsoft.com/office/drawing/2014/main" id="{DA255E90-10EA-35E6-1265-47C62ACE46D0}"/>
              </a:ext>
            </a:extLst>
          </p:cNvPr>
          <p:cNvPicPr>
            <a:picLocks noChangeAspect="1"/>
          </p:cNvPicPr>
          <p:nvPr/>
        </p:nvPicPr>
        <p:blipFill>
          <a:blip r:embed="rId4"/>
          <a:stretch>
            <a:fillRect/>
          </a:stretch>
        </p:blipFill>
        <p:spPr>
          <a:xfrm>
            <a:off x="6932269" y="3160973"/>
            <a:ext cx="1775782" cy="14770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895950" y="1524000"/>
            <a:ext cx="5497175" cy="276398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ca-ES" dirty="0"/>
          </a:p>
          <a:p>
            <a:pPr marL="0" lvl="0" indent="0" algn="l" rtl="0">
              <a:spcBef>
                <a:spcPts val="0"/>
              </a:spcBef>
              <a:spcAft>
                <a:spcPts val="0"/>
              </a:spcAft>
              <a:buNone/>
            </a:pPr>
            <a:endParaRPr lang="ca-ES" dirty="0"/>
          </a:p>
          <a:p>
            <a:pPr marL="0" lvl="0" indent="0" algn="l" rtl="0">
              <a:spcBef>
                <a:spcPts val="0"/>
              </a:spcBef>
              <a:spcAft>
                <a:spcPts val="0"/>
              </a:spcAft>
              <a:buNone/>
            </a:pPr>
            <a:r>
              <a:rPr lang="ca-ES" dirty="0"/>
              <a:t>Dissenyada per empreses petites i mitjanes, amb un mínim d'un soci. La direcció la poden exercir els socis o altres persones contractades per a desenvolupar les tasques de direcció.</a:t>
            </a:r>
          </a:p>
          <a:p>
            <a:pPr marL="0" lvl="0" indent="0" algn="l" rtl="0">
              <a:spcBef>
                <a:spcPts val="0"/>
              </a:spcBef>
              <a:spcAft>
                <a:spcPts val="0"/>
              </a:spcAft>
              <a:buNone/>
            </a:pPr>
            <a:endParaRPr lang="ca-ES" dirty="0"/>
          </a:p>
          <a:p>
            <a:pPr marL="0" lvl="0" indent="0" algn="l" rtl="0">
              <a:spcBef>
                <a:spcPts val="0"/>
              </a:spcBef>
              <a:spcAft>
                <a:spcPts val="0"/>
              </a:spcAft>
              <a:buNone/>
            </a:pPr>
            <a:r>
              <a:rPr lang="ca-ES" dirty="0"/>
              <a:t>En aquest cas la responsabilitat dels socis estarà limitada al capital aportat. El capital social mínim és de 3.000€ i està dividit en participacions nominals. Inicialment, aportarem un capital de 50.000€ dividit en accions al 50%.</a:t>
            </a:r>
          </a:p>
          <a:p>
            <a:pPr marL="0" lvl="0" indent="0" algn="l" rtl="0">
              <a:spcBef>
                <a:spcPts val="0"/>
              </a:spcBef>
              <a:spcAft>
                <a:spcPts val="0"/>
              </a:spcAft>
              <a:buNone/>
            </a:pPr>
            <a:endParaRPr lang="ca-ES" dirty="0"/>
          </a:p>
          <a:p>
            <a:pPr marL="0" lvl="0" indent="0" algn="l" rtl="0">
              <a:spcBef>
                <a:spcPts val="0"/>
              </a:spcBef>
              <a:spcAft>
                <a:spcPts val="0"/>
              </a:spcAft>
              <a:buNone/>
            </a:pPr>
            <a:r>
              <a:rPr lang="ca-ES" dirty="0"/>
              <a:t> Posteriorment ingressarem al registre mercantil d'Andorra.</a:t>
            </a:r>
          </a:p>
        </p:txBody>
      </p:sp>
      <p:sp>
        <p:nvSpPr>
          <p:cNvPr id="547" name="Google Shape;547;p65"/>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7B9B71"/>
                </a:solidFill>
              </a:rPr>
              <a:t>Forma Jurídica</a:t>
            </a:r>
            <a:endParaRPr dirty="0">
              <a:solidFill>
                <a:srgbClr val="7B9B71"/>
              </a:solidFill>
            </a:endParaRPr>
          </a:p>
        </p:txBody>
      </p:sp>
      <p:sp>
        <p:nvSpPr>
          <p:cNvPr id="2" name="Google Shape;503;p61">
            <a:extLst>
              <a:ext uri="{FF2B5EF4-FFF2-40B4-BE49-F238E27FC236}">
                <a16:creationId xmlns:a16="http://schemas.microsoft.com/office/drawing/2014/main" id="{0E8F5A3E-5A64-D7E9-C48C-76C55D6D60FD}"/>
              </a:ext>
            </a:extLst>
          </p:cNvPr>
          <p:cNvSpPr txBox="1">
            <a:spLocks/>
          </p:cNvSpPr>
          <p:nvPr/>
        </p:nvSpPr>
        <p:spPr>
          <a:xfrm>
            <a:off x="895951" y="1243661"/>
            <a:ext cx="5019940" cy="66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4000"/>
              <a:buFont typeface="Vidaloka"/>
              <a:buNone/>
              <a:defRPr sz="3800" b="0" i="0" u="none" strike="noStrike" cap="none">
                <a:solidFill>
                  <a:schemeClr val="accent1"/>
                </a:solidFill>
                <a:latin typeface="Vidaloka"/>
                <a:ea typeface="Vidaloka"/>
                <a:cs typeface="Vidaloka"/>
                <a:sym typeface="Vidaloka"/>
              </a:defRPr>
            </a:lvl1pPr>
            <a:lvl2pPr marR="0" lvl="1"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9pPr>
          </a:lstStyle>
          <a:p>
            <a:r>
              <a:rPr lang="ca-ES" b="1" i="0" dirty="0">
                <a:solidFill>
                  <a:srgbClr val="333333"/>
                </a:solidFill>
                <a:effectLst/>
                <a:latin typeface="OpenSansRegular"/>
              </a:rPr>
              <a:t>Societat limitada</a:t>
            </a:r>
            <a:r>
              <a:rPr lang="ca-ES" b="1" dirty="0">
                <a:solidFill>
                  <a:srgbClr val="333333"/>
                </a:solidFill>
                <a:latin typeface="OpenSansRegular"/>
              </a:rPr>
              <a:t> (</a:t>
            </a:r>
            <a:r>
              <a:rPr lang="en-US" b="1" dirty="0">
                <a:solidFill>
                  <a:srgbClr val="333333"/>
                </a:solidFill>
                <a:latin typeface="OpenSansRegular"/>
              </a:rPr>
              <a:t>SL)</a:t>
            </a:r>
            <a:endParaRPr lang="en-US" dirty="0"/>
          </a:p>
        </p:txBody>
      </p:sp>
      <p:grpSp>
        <p:nvGrpSpPr>
          <p:cNvPr id="3" name="Google Shape;1727;p124">
            <a:extLst>
              <a:ext uri="{FF2B5EF4-FFF2-40B4-BE49-F238E27FC236}">
                <a16:creationId xmlns:a16="http://schemas.microsoft.com/office/drawing/2014/main" id="{19528D18-438C-B4C7-4A3E-27C7C101DD3B}"/>
              </a:ext>
            </a:extLst>
          </p:cNvPr>
          <p:cNvGrpSpPr/>
          <p:nvPr/>
        </p:nvGrpSpPr>
        <p:grpSpPr>
          <a:xfrm>
            <a:off x="6774438" y="883503"/>
            <a:ext cx="1607562" cy="1610315"/>
            <a:chOff x="4107438" y="2753866"/>
            <a:chExt cx="324803" cy="323903"/>
          </a:xfrm>
        </p:grpSpPr>
        <p:sp>
          <p:nvSpPr>
            <p:cNvPr id="4" name="Google Shape;1728;p124">
              <a:extLst>
                <a:ext uri="{FF2B5EF4-FFF2-40B4-BE49-F238E27FC236}">
                  <a16:creationId xmlns:a16="http://schemas.microsoft.com/office/drawing/2014/main" id="{66F61924-E978-0D27-506B-E400ADC6057D}"/>
                </a:ext>
              </a:extLst>
            </p:cNvPr>
            <p:cNvSpPr/>
            <p:nvPr/>
          </p:nvSpPr>
          <p:spPr>
            <a:xfrm>
              <a:off x="4174582" y="2753866"/>
              <a:ext cx="118575" cy="116755"/>
            </a:xfrm>
            <a:custGeom>
              <a:avLst/>
              <a:gdLst/>
              <a:ahLst/>
              <a:cxnLst/>
              <a:rect l="l" t="t" r="r" b="b"/>
              <a:pathLst>
                <a:path w="6059" h="5966" extrusionOk="0">
                  <a:moveTo>
                    <a:pt x="4641" y="0"/>
                  </a:moveTo>
                  <a:cubicBezTo>
                    <a:pt x="4517" y="0"/>
                    <a:pt x="4392" y="47"/>
                    <a:pt x="4294" y="140"/>
                  </a:cubicBezTo>
                  <a:lnTo>
                    <a:pt x="187" y="4257"/>
                  </a:lnTo>
                  <a:cubicBezTo>
                    <a:pt x="0" y="4444"/>
                    <a:pt x="0" y="4748"/>
                    <a:pt x="187" y="4944"/>
                  </a:cubicBezTo>
                  <a:lnTo>
                    <a:pt x="1069" y="5826"/>
                  </a:lnTo>
                  <a:cubicBezTo>
                    <a:pt x="1162" y="5919"/>
                    <a:pt x="1284" y="5966"/>
                    <a:pt x="1408" y="5966"/>
                  </a:cubicBezTo>
                  <a:cubicBezTo>
                    <a:pt x="1532" y="5966"/>
                    <a:pt x="1657" y="5919"/>
                    <a:pt x="1755" y="5826"/>
                  </a:cubicBezTo>
                  <a:lnTo>
                    <a:pt x="5863" y="1718"/>
                  </a:lnTo>
                  <a:cubicBezTo>
                    <a:pt x="6059" y="1522"/>
                    <a:pt x="6059" y="1218"/>
                    <a:pt x="5863" y="1032"/>
                  </a:cubicBezTo>
                  <a:lnTo>
                    <a:pt x="4980" y="140"/>
                  </a:lnTo>
                  <a:cubicBezTo>
                    <a:pt x="4887" y="47"/>
                    <a:pt x="4765" y="0"/>
                    <a:pt x="4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1729;p124">
              <a:extLst>
                <a:ext uri="{FF2B5EF4-FFF2-40B4-BE49-F238E27FC236}">
                  <a16:creationId xmlns:a16="http://schemas.microsoft.com/office/drawing/2014/main" id="{70E25D3C-E65B-FF69-BE2F-49A109337344}"/>
                </a:ext>
              </a:extLst>
            </p:cNvPr>
            <p:cNvSpPr/>
            <p:nvPr/>
          </p:nvSpPr>
          <p:spPr>
            <a:xfrm>
              <a:off x="4291219" y="2870699"/>
              <a:ext cx="118575" cy="116755"/>
            </a:xfrm>
            <a:custGeom>
              <a:avLst/>
              <a:gdLst/>
              <a:ahLst/>
              <a:cxnLst/>
              <a:rect l="l" t="t" r="r" b="b"/>
              <a:pathLst>
                <a:path w="6059" h="5966" extrusionOk="0">
                  <a:moveTo>
                    <a:pt x="4644" y="1"/>
                  </a:moveTo>
                  <a:cubicBezTo>
                    <a:pt x="4520" y="1"/>
                    <a:pt x="4397" y="47"/>
                    <a:pt x="4304" y="140"/>
                  </a:cubicBezTo>
                  <a:lnTo>
                    <a:pt x="187" y="4257"/>
                  </a:lnTo>
                  <a:cubicBezTo>
                    <a:pt x="1" y="4444"/>
                    <a:pt x="1" y="4748"/>
                    <a:pt x="187" y="4944"/>
                  </a:cubicBezTo>
                  <a:lnTo>
                    <a:pt x="1079" y="5826"/>
                  </a:lnTo>
                  <a:cubicBezTo>
                    <a:pt x="1172" y="5919"/>
                    <a:pt x="1295" y="5966"/>
                    <a:pt x="1418" y="5966"/>
                  </a:cubicBezTo>
                  <a:cubicBezTo>
                    <a:pt x="1542" y="5966"/>
                    <a:pt x="1667" y="5919"/>
                    <a:pt x="1765" y="5826"/>
                  </a:cubicBezTo>
                  <a:lnTo>
                    <a:pt x="5873" y="1719"/>
                  </a:lnTo>
                  <a:cubicBezTo>
                    <a:pt x="6059" y="1522"/>
                    <a:pt x="6059" y="1219"/>
                    <a:pt x="5873" y="1032"/>
                  </a:cubicBezTo>
                  <a:lnTo>
                    <a:pt x="4990" y="140"/>
                  </a:lnTo>
                  <a:cubicBezTo>
                    <a:pt x="4892" y="47"/>
                    <a:pt x="4767" y="1"/>
                    <a:pt x="4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1730;p124">
              <a:extLst>
                <a:ext uri="{FF2B5EF4-FFF2-40B4-BE49-F238E27FC236}">
                  <a16:creationId xmlns:a16="http://schemas.microsoft.com/office/drawing/2014/main" id="{C5D8900F-8CFE-04C8-4EB9-3FDF8D29D675}"/>
                </a:ext>
              </a:extLst>
            </p:cNvPr>
            <p:cNvSpPr/>
            <p:nvPr/>
          </p:nvSpPr>
          <p:spPr>
            <a:xfrm>
              <a:off x="4220807" y="2799386"/>
              <a:ext cx="142567" cy="142548"/>
            </a:xfrm>
            <a:custGeom>
              <a:avLst/>
              <a:gdLst/>
              <a:ahLst/>
              <a:cxnLst/>
              <a:rect l="l" t="t" r="r" b="b"/>
              <a:pathLst>
                <a:path w="7285" h="7284" extrusionOk="0">
                  <a:moveTo>
                    <a:pt x="4255" y="0"/>
                  </a:moveTo>
                  <a:cubicBezTo>
                    <a:pt x="4206" y="69"/>
                    <a:pt x="60" y="4216"/>
                    <a:pt x="1" y="4255"/>
                  </a:cubicBezTo>
                  <a:cubicBezTo>
                    <a:pt x="1491" y="4637"/>
                    <a:pt x="2648" y="5804"/>
                    <a:pt x="3030" y="7284"/>
                  </a:cubicBezTo>
                  <a:cubicBezTo>
                    <a:pt x="3089" y="7225"/>
                    <a:pt x="7235" y="3078"/>
                    <a:pt x="7284" y="3029"/>
                  </a:cubicBezTo>
                  <a:cubicBezTo>
                    <a:pt x="6569" y="2824"/>
                    <a:pt x="5902" y="2451"/>
                    <a:pt x="5363" y="1931"/>
                  </a:cubicBezTo>
                  <a:cubicBezTo>
                    <a:pt x="4745" y="1314"/>
                    <a:pt x="4412" y="520"/>
                    <a:pt x="4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1731;p124">
              <a:extLst>
                <a:ext uri="{FF2B5EF4-FFF2-40B4-BE49-F238E27FC236}">
                  <a16:creationId xmlns:a16="http://schemas.microsoft.com/office/drawing/2014/main" id="{825E1006-C2E9-D821-A54D-BE24D9E52929}"/>
                </a:ext>
              </a:extLst>
            </p:cNvPr>
            <p:cNvSpPr/>
            <p:nvPr/>
          </p:nvSpPr>
          <p:spPr>
            <a:xfrm>
              <a:off x="4107438" y="2902402"/>
              <a:ext cx="153116" cy="152196"/>
            </a:xfrm>
            <a:custGeom>
              <a:avLst/>
              <a:gdLst/>
              <a:ahLst/>
              <a:cxnLst/>
              <a:rect l="l" t="t" r="r" b="b"/>
              <a:pathLst>
                <a:path w="7824" h="7777" extrusionOk="0">
                  <a:moveTo>
                    <a:pt x="5764" y="0"/>
                  </a:moveTo>
                  <a:lnTo>
                    <a:pt x="186" y="5578"/>
                  </a:lnTo>
                  <a:cubicBezTo>
                    <a:pt x="0" y="5765"/>
                    <a:pt x="0" y="6069"/>
                    <a:pt x="186" y="6265"/>
                  </a:cubicBezTo>
                  <a:lnTo>
                    <a:pt x="1559" y="7637"/>
                  </a:lnTo>
                  <a:cubicBezTo>
                    <a:pt x="1652" y="7730"/>
                    <a:pt x="1775" y="7777"/>
                    <a:pt x="1898" y="7777"/>
                  </a:cubicBezTo>
                  <a:cubicBezTo>
                    <a:pt x="2022" y="7777"/>
                    <a:pt x="2147" y="7730"/>
                    <a:pt x="2245" y="7637"/>
                  </a:cubicBezTo>
                  <a:lnTo>
                    <a:pt x="7823" y="2059"/>
                  </a:lnTo>
                  <a:cubicBezTo>
                    <a:pt x="7509" y="1079"/>
                    <a:pt x="6745" y="304"/>
                    <a:pt x="5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1732;p124">
              <a:extLst>
                <a:ext uri="{FF2B5EF4-FFF2-40B4-BE49-F238E27FC236}">
                  <a16:creationId xmlns:a16="http://schemas.microsoft.com/office/drawing/2014/main" id="{EEF88770-BC47-5C29-EEDC-4AA2E618C810}"/>
                </a:ext>
              </a:extLst>
            </p:cNvPr>
            <p:cNvSpPr/>
            <p:nvPr/>
          </p:nvSpPr>
          <p:spPr>
            <a:xfrm>
              <a:off x="4299282" y="3020762"/>
              <a:ext cx="132959" cy="57007"/>
            </a:xfrm>
            <a:custGeom>
              <a:avLst/>
              <a:gdLst/>
              <a:ahLst/>
              <a:cxnLst/>
              <a:rect l="l" t="t" r="r" b="b"/>
              <a:pathLst>
                <a:path w="6794" h="2913" extrusionOk="0">
                  <a:moveTo>
                    <a:pt x="5351" y="1"/>
                  </a:moveTo>
                  <a:cubicBezTo>
                    <a:pt x="5345" y="1"/>
                    <a:pt x="5339" y="1"/>
                    <a:pt x="5333" y="1"/>
                  </a:cubicBezTo>
                  <a:lnTo>
                    <a:pt x="1451" y="1"/>
                  </a:lnTo>
                  <a:cubicBezTo>
                    <a:pt x="657" y="1"/>
                    <a:pt x="0" y="648"/>
                    <a:pt x="0" y="1452"/>
                  </a:cubicBezTo>
                  <a:lnTo>
                    <a:pt x="0" y="2422"/>
                  </a:lnTo>
                  <a:cubicBezTo>
                    <a:pt x="0" y="2697"/>
                    <a:pt x="226" y="2912"/>
                    <a:pt x="490" y="2912"/>
                  </a:cubicBezTo>
                  <a:lnTo>
                    <a:pt x="6304" y="2912"/>
                  </a:lnTo>
                  <a:cubicBezTo>
                    <a:pt x="6578" y="2912"/>
                    <a:pt x="6794" y="2697"/>
                    <a:pt x="6794" y="2422"/>
                  </a:cubicBezTo>
                  <a:lnTo>
                    <a:pt x="6794" y="1452"/>
                  </a:lnTo>
                  <a:cubicBezTo>
                    <a:pt x="6794" y="654"/>
                    <a:pt x="6147" y="1"/>
                    <a:pt x="5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727567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68"/>
        <p:cNvGrpSpPr/>
        <p:nvPr/>
      </p:nvGrpSpPr>
      <p:grpSpPr>
        <a:xfrm>
          <a:off x="0" y="0"/>
          <a:ext cx="0" cy="0"/>
          <a:chOff x="0" y="0"/>
          <a:chExt cx="0" cy="0"/>
        </a:xfrm>
      </p:grpSpPr>
      <p:sp>
        <p:nvSpPr>
          <p:cNvPr id="969" name="Google Shape;969;p92"/>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7B9B71"/>
                </a:solidFill>
              </a:rPr>
              <a:t>Departaments</a:t>
            </a:r>
            <a:endParaRPr dirty="0">
              <a:solidFill>
                <a:srgbClr val="7B9B71"/>
              </a:solidFill>
            </a:endParaRPr>
          </a:p>
        </p:txBody>
      </p:sp>
      <p:cxnSp>
        <p:nvCxnSpPr>
          <p:cNvPr id="970" name="Google Shape;970;p92"/>
          <p:cNvCxnSpPr>
            <a:stCxn id="971" idx="3"/>
            <a:endCxn id="972" idx="1"/>
          </p:cNvCxnSpPr>
          <p:nvPr/>
        </p:nvCxnSpPr>
        <p:spPr>
          <a:xfrm>
            <a:off x="3346950" y="2937480"/>
            <a:ext cx="909300" cy="0"/>
          </a:xfrm>
          <a:prstGeom prst="straightConnector1">
            <a:avLst/>
          </a:prstGeom>
          <a:noFill/>
          <a:ln w="28575" cap="flat" cmpd="sng">
            <a:solidFill>
              <a:schemeClr val="accent1"/>
            </a:solidFill>
            <a:prstDash val="solid"/>
            <a:round/>
            <a:headEnd type="none" w="med" len="med"/>
            <a:tailEnd type="none" w="med" len="med"/>
          </a:ln>
        </p:spPr>
      </p:cxnSp>
      <p:grpSp>
        <p:nvGrpSpPr>
          <p:cNvPr id="975" name="Google Shape;975;p92"/>
          <p:cNvGrpSpPr/>
          <p:nvPr/>
        </p:nvGrpSpPr>
        <p:grpSpPr>
          <a:xfrm>
            <a:off x="4434862" y="2801607"/>
            <a:ext cx="248561" cy="271745"/>
            <a:chOff x="1687350" y="3618725"/>
            <a:chExt cx="270175" cy="295375"/>
          </a:xfrm>
        </p:grpSpPr>
        <p:sp>
          <p:nvSpPr>
            <p:cNvPr id="976" name="Google Shape;976;p92"/>
            <p:cNvSpPr/>
            <p:nvPr/>
          </p:nvSpPr>
          <p:spPr>
            <a:xfrm>
              <a:off x="1829900" y="3808550"/>
              <a:ext cx="18150" cy="35450"/>
            </a:xfrm>
            <a:custGeom>
              <a:avLst/>
              <a:gdLst/>
              <a:ahLst/>
              <a:cxnLst/>
              <a:rect l="l" t="t" r="r" b="b"/>
              <a:pathLst>
                <a:path w="726" h="1418" extrusionOk="0">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7" name="Google Shape;977;p92"/>
            <p:cNvSpPr/>
            <p:nvPr/>
          </p:nvSpPr>
          <p:spPr>
            <a:xfrm>
              <a:off x="1795250" y="3755775"/>
              <a:ext cx="18125" cy="35450"/>
            </a:xfrm>
            <a:custGeom>
              <a:avLst/>
              <a:gdLst/>
              <a:ahLst/>
              <a:cxnLst/>
              <a:rect l="l" t="t" r="r" b="b"/>
              <a:pathLst>
                <a:path w="725" h="1418" extrusionOk="0">
                  <a:moveTo>
                    <a:pt x="378" y="0"/>
                  </a:moveTo>
                  <a:cubicBezTo>
                    <a:pt x="189" y="0"/>
                    <a:pt x="0" y="158"/>
                    <a:pt x="0" y="378"/>
                  </a:cubicBezTo>
                  <a:lnTo>
                    <a:pt x="0" y="1071"/>
                  </a:lnTo>
                  <a:cubicBezTo>
                    <a:pt x="0" y="1260"/>
                    <a:pt x="189" y="1418"/>
                    <a:pt x="378" y="1418"/>
                  </a:cubicBezTo>
                  <a:lnTo>
                    <a:pt x="725" y="1418"/>
                  </a:lnTo>
                  <a:lnTo>
                    <a:pt x="7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8" name="Google Shape;978;p92"/>
            <p:cNvSpPr/>
            <p:nvPr/>
          </p:nvSpPr>
          <p:spPr>
            <a:xfrm>
              <a:off x="1687350" y="3618725"/>
              <a:ext cx="270175" cy="295375"/>
            </a:xfrm>
            <a:custGeom>
              <a:avLst/>
              <a:gdLst/>
              <a:ahLst/>
              <a:cxnLst/>
              <a:rect l="l" t="t" r="r" b="b"/>
              <a:pathLst>
                <a:path w="10807" h="11815" extrusionOk="0">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80" name="Google Shape;980;p92"/>
          <p:cNvSpPr/>
          <p:nvPr/>
        </p:nvSpPr>
        <p:spPr>
          <a:xfrm>
            <a:off x="2946278" y="2805358"/>
            <a:ext cx="230027" cy="264243"/>
          </a:xfrm>
          <a:custGeom>
            <a:avLst/>
            <a:gdLst/>
            <a:ahLst/>
            <a:cxnLst/>
            <a:rect l="l" t="t" r="r" b="b"/>
            <a:pathLst>
              <a:path w="11059" h="12704" extrusionOk="0">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cxnSp>
        <p:nvCxnSpPr>
          <p:cNvPr id="984" name="Google Shape;984;p92"/>
          <p:cNvCxnSpPr>
            <a:endCxn id="971" idx="1"/>
          </p:cNvCxnSpPr>
          <p:nvPr/>
        </p:nvCxnSpPr>
        <p:spPr>
          <a:xfrm>
            <a:off x="1848150" y="2927880"/>
            <a:ext cx="906000" cy="9600"/>
          </a:xfrm>
          <a:prstGeom prst="straightConnector1">
            <a:avLst/>
          </a:prstGeom>
          <a:noFill/>
          <a:ln w="28575" cap="flat" cmpd="sng">
            <a:solidFill>
              <a:schemeClr val="accent1"/>
            </a:solidFill>
            <a:prstDash val="solid"/>
            <a:round/>
            <a:headEnd type="none" w="med" len="med"/>
            <a:tailEnd type="none" w="med" len="med"/>
          </a:ln>
        </p:spPr>
      </p:cxnSp>
      <p:cxnSp>
        <p:nvCxnSpPr>
          <p:cNvPr id="988" name="Google Shape;988;p92"/>
          <p:cNvCxnSpPr>
            <a:stCxn id="972" idx="3"/>
            <a:endCxn id="986" idx="1"/>
          </p:cNvCxnSpPr>
          <p:nvPr/>
        </p:nvCxnSpPr>
        <p:spPr>
          <a:xfrm>
            <a:off x="4849162" y="2937480"/>
            <a:ext cx="921900" cy="0"/>
          </a:xfrm>
          <a:prstGeom prst="straightConnector1">
            <a:avLst/>
          </a:prstGeom>
          <a:noFill/>
          <a:ln w="28575" cap="flat" cmpd="sng">
            <a:solidFill>
              <a:schemeClr val="accent1"/>
            </a:solidFill>
            <a:prstDash val="solid"/>
            <a:round/>
            <a:headEnd type="none" w="med" len="med"/>
            <a:tailEnd type="none" w="med" len="med"/>
          </a:ln>
        </p:spPr>
      </p:cxnSp>
      <p:sp>
        <p:nvSpPr>
          <p:cNvPr id="989" name="Google Shape;989;p92"/>
          <p:cNvSpPr/>
          <p:nvPr/>
        </p:nvSpPr>
        <p:spPr>
          <a:xfrm>
            <a:off x="5914989" y="2824069"/>
            <a:ext cx="290377" cy="226822"/>
          </a:xfrm>
          <a:custGeom>
            <a:avLst/>
            <a:gdLst/>
            <a:ahLst/>
            <a:cxnLst/>
            <a:rect l="l" t="t" r="r" b="b"/>
            <a:pathLst>
              <a:path w="12665" h="9893" extrusionOk="0">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7" name="Google Shape;987;p92"/>
          <p:cNvSpPr txBox="1"/>
          <p:nvPr/>
        </p:nvSpPr>
        <p:spPr>
          <a:xfrm>
            <a:off x="-320883" y="1449992"/>
            <a:ext cx="3583841"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a:t>
            </a:r>
            <a:r>
              <a:rPr lang="ca-ES" sz="2400" dirty="0">
                <a:solidFill>
                  <a:schemeClr val="accent1"/>
                </a:solidFill>
                <a:latin typeface="Vidaloka"/>
                <a:ea typeface="Vidaloka"/>
                <a:cs typeface="Vidaloka"/>
                <a:sym typeface="Vidaloka"/>
              </a:rPr>
              <a:t> </a:t>
            </a:r>
            <a:r>
              <a:rPr lang="ca-ES" sz="2000" dirty="0">
                <a:solidFill>
                  <a:schemeClr val="accent1"/>
                </a:solidFill>
                <a:latin typeface="Vidaloka"/>
                <a:ea typeface="Vidaloka"/>
                <a:cs typeface="Vidaloka"/>
                <a:sym typeface="Vidaloka"/>
              </a:rPr>
              <a:t>financer</a:t>
            </a:r>
            <a:endParaRPr lang="ca-ES" sz="2400" dirty="0">
              <a:solidFill>
                <a:schemeClr val="accent1"/>
              </a:solidFill>
              <a:latin typeface="Vidaloka"/>
              <a:ea typeface="Vidaloka"/>
              <a:cs typeface="Vidaloka"/>
              <a:sym typeface="Vidaloka"/>
            </a:endParaRPr>
          </a:p>
        </p:txBody>
      </p:sp>
      <p:sp>
        <p:nvSpPr>
          <p:cNvPr id="990" name="Google Shape;990;p92"/>
          <p:cNvSpPr txBox="1"/>
          <p:nvPr/>
        </p:nvSpPr>
        <p:spPr>
          <a:xfrm>
            <a:off x="170955" y="1852844"/>
            <a:ext cx="2683360"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Obtenir recursos financers i prendre les decisions de viabilitat d'un projecte.</a:t>
            </a:r>
          </a:p>
        </p:txBody>
      </p:sp>
      <p:cxnSp>
        <p:nvCxnSpPr>
          <p:cNvPr id="991" name="Google Shape;991;p92"/>
          <p:cNvCxnSpPr>
            <a:stCxn id="986" idx="3"/>
            <a:endCxn id="992" idx="1"/>
          </p:cNvCxnSpPr>
          <p:nvPr/>
        </p:nvCxnSpPr>
        <p:spPr>
          <a:xfrm>
            <a:off x="6363803" y="2937480"/>
            <a:ext cx="933900" cy="0"/>
          </a:xfrm>
          <a:prstGeom prst="straightConnector1">
            <a:avLst/>
          </a:prstGeom>
          <a:noFill/>
          <a:ln w="28575" cap="flat" cmpd="sng">
            <a:solidFill>
              <a:schemeClr val="accent1"/>
            </a:solidFill>
            <a:prstDash val="solid"/>
            <a:round/>
            <a:headEnd type="none" w="med" len="med"/>
            <a:tailEnd type="none" w="med" len="med"/>
          </a:ln>
        </p:spPr>
      </p:cxnSp>
      <p:grpSp>
        <p:nvGrpSpPr>
          <p:cNvPr id="998" name="Google Shape;998;p92"/>
          <p:cNvGrpSpPr/>
          <p:nvPr/>
        </p:nvGrpSpPr>
        <p:grpSpPr>
          <a:xfrm>
            <a:off x="1399481" y="2808126"/>
            <a:ext cx="278935" cy="258707"/>
            <a:chOff x="1399485" y="2808126"/>
            <a:chExt cx="278935" cy="258707"/>
          </a:xfrm>
        </p:grpSpPr>
        <p:sp>
          <p:nvSpPr>
            <p:cNvPr id="999" name="Google Shape;999;p92"/>
            <p:cNvSpPr/>
            <p:nvPr/>
          </p:nvSpPr>
          <p:spPr>
            <a:xfrm>
              <a:off x="1489092" y="2876771"/>
              <a:ext cx="189328" cy="190062"/>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7B9B71"/>
                </a:solidFill>
              </a:endParaRPr>
            </a:p>
          </p:txBody>
        </p:sp>
        <p:sp>
          <p:nvSpPr>
            <p:cNvPr id="1000" name="Google Shape;1000;p92"/>
            <p:cNvSpPr/>
            <p:nvPr/>
          </p:nvSpPr>
          <p:spPr>
            <a:xfrm>
              <a:off x="1400219" y="2808126"/>
              <a:ext cx="146692" cy="68667"/>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7B9B71"/>
                </a:solidFill>
              </a:endParaRPr>
            </a:p>
          </p:txBody>
        </p:sp>
        <p:sp>
          <p:nvSpPr>
            <p:cNvPr id="1001" name="Google Shape;1001;p92"/>
            <p:cNvSpPr/>
            <p:nvPr/>
          </p:nvSpPr>
          <p:spPr>
            <a:xfrm>
              <a:off x="1400219" y="2879660"/>
              <a:ext cx="101166" cy="54929"/>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7B9B71"/>
                </a:solidFill>
              </a:endParaRPr>
            </a:p>
          </p:txBody>
        </p:sp>
        <p:sp>
          <p:nvSpPr>
            <p:cNvPr id="1002" name="Google Shape;1002;p92"/>
            <p:cNvSpPr/>
            <p:nvPr/>
          </p:nvSpPr>
          <p:spPr>
            <a:xfrm>
              <a:off x="1400219" y="2992386"/>
              <a:ext cx="97565" cy="54929"/>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7B9B71"/>
                </a:solidFill>
              </a:endParaRPr>
            </a:p>
          </p:txBody>
        </p:sp>
        <p:sp>
          <p:nvSpPr>
            <p:cNvPr id="1003" name="Google Shape;1003;p92"/>
            <p:cNvSpPr/>
            <p:nvPr/>
          </p:nvSpPr>
          <p:spPr>
            <a:xfrm>
              <a:off x="1399485" y="2936012"/>
              <a:ext cx="71557" cy="55663"/>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7B9B71"/>
                </a:solidFill>
              </a:endParaRPr>
            </a:p>
          </p:txBody>
        </p:sp>
      </p:grpSp>
      <p:grpSp>
        <p:nvGrpSpPr>
          <p:cNvPr id="1006" name="Google Shape;1006;p92"/>
          <p:cNvGrpSpPr/>
          <p:nvPr/>
        </p:nvGrpSpPr>
        <p:grpSpPr>
          <a:xfrm>
            <a:off x="7456127" y="2799708"/>
            <a:ext cx="278955" cy="275558"/>
            <a:chOff x="-59869425" y="4102225"/>
            <a:chExt cx="319025" cy="315175"/>
          </a:xfrm>
        </p:grpSpPr>
        <p:sp>
          <p:nvSpPr>
            <p:cNvPr id="1007" name="Google Shape;1007;p92"/>
            <p:cNvSpPr/>
            <p:nvPr/>
          </p:nvSpPr>
          <p:spPr>
            <a:xfrm>
              <a:off x="-59869425" y="4102225"/>
              <a:ext cx="149675" cy="256825"/>
            </a:xfrm>
            <a:custGeom>
              <a:avLst/>
              <a:gdLst/>
              <a:ahLst/>
              <a:cxnLst/>
              <a:rect l="l" t="t" r="r" b="b"/>
              <a:pathLst>
                <a:path w="5987" h="10273" extrusionOk="0">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8" name="Google Shape;1008;p92"/>
            <p:cNvSpPr/>
            <p:nvPr/>
          </p:nvSpPr>
          <p:spPr>
            <a:xfrm>
              <a:off x="-59811125" y="4322075"/>
              <a:ext cx="201650" cy="95325"/>
            </a:xfrm>
            <a:custGeom>
              <a:avLst/>
              <a:gdLst/>
              <a:ahLst/>
              <a:cxnLst/>
              <a:rect l="l" t="t" r="r" b="b"/>
              <a:pathLst>
                <a:path w="8066" h="3813" extrusionOk="0">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9" name="Google Shape;1009;p92"/>
            <p:cNvSpPr/>
            <p:nvPr/>
          </p:nvSpPr>
          <p:spPr>
            <a:xfrm>
              <a:off x="-59700075" y="4102225"/>
              <a:ext cx="149675" cy="256525"/>
            </a:xfrm>
            <a:custGeom>
              <a:avLst/>
              <a:gdLst/>
              <a:ahLst/>
              <a:cxnLst/>
              <a:rect l="l" t="t" r="r" b="b"/>
              <a:pathLst>
                <a:path w="5987" h="10261" extrusionOk="0">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0" name="Google Shape;1010;p92"/>
            <p:cNvSpPr/>
            <p:nvPr/>
          </p:nvSpPr>
          <p:spPr>
            <a:xfrm>
              <a:off x="-59742600" y="4187375"/>
              <a:ext cx="63025" cy="144950"/>
            </a:xfrm>
            <a:custGeom>
              <a:avLst/>
              <a:gdLst/>
              <a:ahLst/>
              <a:cxnLst/>
              <a:rect l="l" t="t" r="r" b="b"/>
              <a:pathLst>
                <a:path w="2521" h="5798" extrusionOk="0">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2" name="Google Shape;987;p92">
            <a:extLst>
              <a:ext uri="{FF2B5EF4-FFF2-40B4-BE49-F238E27FC236}">
                <a16:creationId xmlns:a16="http://schemas.microsoft.com/office/drawing/2014/main" id="{B594E7DF-2057-CEB2-7385-388472E28A19}"/>
              </a:ext>
            </a:extLst>
          </p:cNvPr>
          <p:cNvSpPr txBox="1"/>
          <p:nvPr/>
        </p:nvSpPr>
        <p:spPr>
          <a:xfrm>
            <a:off x="2544496" y="1453031"/>
            <a:ext cx="3583841"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 comercial</a:t>
            </a:r>
          </a:p>
        </p:txBody>
      </p:sp>
      <p:sp>
        <p:nvSpPr>
          <p:cNvPr id="13" name="Google Shape;990;p92">
            <a:extLst>
              <a:ext uri="{FF2B5EF4-FFF2-40B4-BE49-F238E27FC236}">
                <a16:creationId xmlns:a16="http://schemas.microsoft.com/office/drawing/2014/main" id="{38BFC55F-3255-49FD-85D1-3C7A1AC9D0ED}"/>
              </a:ext>
            </a:extLst>
          </p:cNvPr>
          <p:cNvSpPr txBox="1"/>
          <p:nvPr/>
        </p:nvSpPr>
        <p:spPr>
          <a:xfrm>
            <a:off x="2887837" y="1856238"/>
            <a:ext cx="3021500"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Serà el nexe entre l'empresa i el mercat. Estudi del mercat i la demanda dels consumidors</a:t>
            </a:r>
          </a:p>
        </p:txBody>
      </p:sp>
      <p:sp>
        <p:nvSpPr>
          <p:cNvPr id="14" name="Google Shape;987;p92">
            <a:extLst>
              <a:ext uri="{FF2B5EF4-FFF2-40B4-BE49-F238E27FC236}">
                <a16:creationId xmlns:a16="http://schemas.microsoft.com/office/drawing/2014/main" id="{498B66A4-32BB-B0A3-12EF-CA584CFD1B0C}"/>
              </a:ext>
            </a:extLst>
          </p:cNvPr>
          <p:cNvSpPr txBox="1"/>
          <p:nvPr/>
        </p:nvSpPr>
        <p:spPr>
          <a:xfrm>
            <a:off x="443463" y="3331320"/>
            <a:ext cx="3865246"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 administratiu</a:t>
            </a:r>
          </a:p>
        </p:txBody>
      </p:sp>
      <p:sp>
        <p:nvSpPr>
          <p:cNvPr id="15" name="Google Shape;990;p92">
            <a:extLst>
              <a:ext uri="{FF2B5EF4-FFF2-40B4-BE49-F238E27FC236}">
                <a16:creationId xmlns:a16="http://schemas.microsoft.com/office/drawing/2014/main" id="{CE687BD8-1B5E-1533-7D33-96CB30CAEBC8}"/>
              </a:ext>
            </a:extLst>
          </p:cNvPr>
          <p:cNvSpPr txBox="1"/>
          <p:nvPr/>
        </p:nvSpPr>
        <p:spPr>
          <a:xfrm>
            <a:off x="909680" y="3746817"/>
            <a:ext cx="3179445"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planificació, organització, direcció i control de l'empresa. Instruirà la resta de departaments, realitzarà la comptabilitat.</a:t>
            </a:r>
          </a:p>
        </p:txBody>
      </p:sp>
      <p:sp>
        <p:nvSpPr>
          <p:cNvPr id="16" name="Google Shape;987;p92">
            <a:extLst>
              <a:ext uri="{FF2B5EF4-FFF2-40B4-BE49-F238E27FC236}">
                <a16:creationId xmlns:a16="http://schemas.microsoft.com/office/drawing/2014/main" id="{86D09AEE-76C5-7BB9-BA4A-81A37904116E}"/>
              </a:ext>
            </a:extLst>
          </p:cNvPr>
          <p:cNvSpPr txBox="1"/>
          <p:nvPr/>
        </p:nvSpPr>
        <p:spPr>
          <a:xfrm>
            <a:off x="4299847" y="3362249"/>
            <a:ext cx="4470079"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 d'aprovisionament</a:t>
            </a:r>
          </a:p>
        </p:txBody>
      </p:sp>
      <p:sp>
        <p:nvSpPr>
          <p:cNvPr id="17" name="Google Shape;990;p92">
            <a:extLst>
              <a:ext uri="{FF2B5EF4-FFF2-40B4-BE49-F238E27FC236}">
                <a16:creationId xmlns:a16="http://schemas.microsoft.com/office/drawing/2014/main" id="{B8B76EF9-522B-A0E7-E172-28A16C269DDE}"/>
              </a:ext>
            </a:extLst>
          </p:cNvPr>
          <p:cNvSpPr txBox="1"/>
          <p:nvPr/>
        </p:nvSpPr>
        <p:spPr>
          <a:xfrm>
            <a:off x="4766065" y="3777746"/>
            <a:ext cx="3525880"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 S'encarregarà de suplir les necessitats d'estoc. El propòsit serà buscar els productes amb millor preu sense que això afecti la seva qualitat.</a:t>
            </a:r>
          </a:p>
        </p:txBody>
      </p:sp>
      <p:sp>
        <p:nvSpPr>
          <p:cNvPr id="18" name="Google Shape;987;p92">
            <a:extLst>
              <a:ext uri="{FF2B5EF4-FFF2-40B4-BE49-F238E27FC236}">
                <a16:creationId xmlns:a16="http://schemas.microsoft.com/office/drawing/2014/main" id="{BC671397-E3AF-D9A7-290F-78F63493E7C9}"/>
              </a:ext>
            </a:extLst>
          </p:cNvPr>
          <p:cNvSpPr txBox="1"/>
          <p:nvPr/>
        </p:nvSpPr>
        <p:spPr>
          <a:xfrm>
            <a:off x="5346407" y="1439119"/>
            <a:ext cx="3865246" cy="317125"/>
          </a:xfrm>
          <a:prstGeom prst="rect">
            <a:avLst/>
          </a:prstGeom>
          <a:noFill/>
          <a:ln>
            <a:noFill/>
          </a:ln>
        </p:spPr>
        <p:txBody>
          <a:bodyPr spcFirstLastPara="1" wrap="square" lIns="0" tIns="0" rIns="0" bIns="0" anchor="t" anchorCtr="0">
            <a:noAutofit/>
          </a:bodyPr>
          <a:lstStyle/>
          <a:p>
            <a:pPr lvl="0" algn="ctr"/>
            <a:r>
              <a:rPr lang="ca-ES" sz="2000" dirty="0">
                <a:solidFill>
                  <a:schemeClr val="accent1"/>
                </a:solidFill>
                <a:latin typeface="Vidaloka"/>
                <a:ea typeface="Vidaloka"/>
                <a:cs typeface="Vidaloka"/>
                <a:sym typeface="Vidaloka"/>
              </a:rPr>
              <a:t>Departament de RH</a:t>
            </a:r>
          </a:p>
        </p:txBody>
      </p:sp>
      <p:sp>
        <p:nvSpPr>
          <p:cNvPr id="19" name="Google Shape;990;p92">
            <a:extLst>
              <a:ext uri="{FF2B5EF4-FFF2-40B4-BE49-F238E27FC236}">
                <a16:creationId xmlns:a16="http://schemas.microsoft.com/office/drawing/2014/main" id="{9520AE89-C0C6-110D-B720-7E9E32D8FD8D}"/>
              </a:ext>
            </a:extLst>
          </p:cNvPr>
          <p:cNvSpPr txBox="1"/>
          <p:nvPr/>
        </p:nvSpPr>
        <p:spPr>
          <a:xfrm>
            <a:off x="5771062" y="1813054"/>
            <a:ext cx="3179445" cy="545400"/>
          </a:xfrm>
          <a:prstGeom prst="rect">
            <a:avLst/>
          </a:prstGeom>
          <a:noFill/>
          <a:ln>
            <a:noFill/>
          </a:ln>
        </p:spPr>
        <p:txBody>
          <a:bodyPr spcFirstLastPara="1" wrap="square" lIns="0" tIns="0" rIns="91425" bIns="91425" anchor="t" anchorCtr="0">
            <a:noAutofit/>
          </a:bodyPr>
          <a:lstStyle/>
          <a:p>
            <a:pPr lvl="0" algn="ctr">
              <a:buClr>
                <a:schemeClr val="dk2"/>
              </a:buClr>
              <a:buSzPts val="1100"/>
            </a:pPr>
            <a:r>
              <a:rPr lang="ca-ES" sz="1200" dirty="0">
                <a:solidFill>
                  <a:schemeClr val="dk1"/>
                </a:solidFill>
                <a:latin typeface="Montserrat"/>
                <a:ea typeface="Montserrat"/>
                <a:cs typeface="Montserrat"/>
                <a:sym typeface="Montserrat"/>
              </a:rPr>
              <a:t>Analitzarà, avaluarà i planificarà els processos de reclutament, selecció i contractació de persona. Planificació i remuneracions..</a:t>
            </a:r>
          </a:p>
        </p:txBody>
      </p:sp>
    </p:spTree>
    <p:extLst>
      <p:ext uri="{BB962C8B-B14F-4D97-AF65-F5344CB8AC3E}">
        <p14:creationId xmlns:p14="http://schemas.microsoft.com/office/powerpoint/2010/main" val="247124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969"/>
                                        </p:tgtEl>
                                        <p:attrNameLst>
                                          <p:attrName>style.visibility</p:attrName>
                                        </p:attrNameLst>
                                      </p:cBhvr>
                                      <p:to>
                                        <p:strVal val="visible"/>
                                      </p:to>
                                    </p:set>
                                    <p:anim calcmode="lin" valueType="num">
                                      <p:cBhvr additive="base">
                                        <p:cTn id="7" dur="1000"/>
                                        <p:tgtEl>
                                          <p:spTgt spid="969"/>
                                        </p:tgtEl>
                                        <p:attrNameLst>
                                          <p:attrName>ppt_y</p:attrName>
                                        </p:attrNameLst>
                                      </p:cBhvr>
                                      <p:tavLst>
                                        <p:tav tm="0">
                                          <p:val>
                                            <p:strVal val="#ppt_y-1"/>
                                          </p:val>
                                        </p:tav>
                                        <p:tav tm="100000">
                                          <p:val>
                                            <p:strVal val="#ppt_y"/>
                                          </p:val>
                                        </p:tav>
                                      </p:tavLst>
                                    </p:anim>
                                  </p:childTnLst>
                                </p:cTn>
                              </p:par>
                              <p:par>
                                <p:cTn id="8" presetID="2" presetClass="entr" presetSubtype="2" fill="hold" nodeType="withEffect">
                                  <p:stCondLst>
                                    <p:cond delay="0"/>
                                  </p:stCondLst>
                                  <p:childTnLst>
                                    <p:set>
                                      <p:cBhvr>
                                        <p:cTn id="9" dur="1" fill="hold">
                                          <p:stCondLst>
                                            <p:cond delay="0"/>
                                          </p:stCondLst>
                                        </p:cTn>
                                        <p:tgtEl>
                                          <p:spTgt spid="998"/>
                                        </p:tgtEl>
                                        <p:attrNameLst>
                                          <p:attrName>style.visibility</p:attrName>
                                        </p:attrNameLst>
                                      </p:cBhvr>
                                      <p:to>
                                        <p:strVal val="visible"/>
                                      </p:to>
                                    </p:set>
                                    <p:anim calcmode="lin" valueType="num">
                                      <p:cBhvr additive="base">
                                        <p:cTn id="10" dur="1000"/>
                                        <p:tgtEl>
                                          <p:spTgt spid="998"/>
                                        </p:tgtEl>
                                        <p:attrNameLst>
                                          <p:attrName>ppt_x</p:attrName>
                                        </p:attrNameLst>
                                      </p:cBhvr>
                                      <p:tavLst>
                                        <p:tav tm="0">
                                          <p:val>
                                            <p:strVal val="#ppt_x+1"/>
                                          </p:val>
                                        </p:tav>
                                        <p:tav tm="100000">
                                          <p:val>
                                            <p:strVal val="#ppt_x"/>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980"/>
                                        </p:tgtEl>
                                        <p:attrNameLst>
                                          <p:attrName>style.visibility</p:attrName>
                                        </p:attrNameLst>
                                      </p:cBhvr>
                                      <p:to>
                                        <p:strVal val="visible"/>
                                      </p:to>
                                    </p:set>
                                    <p:anim calcmode="lin" valueType="num">
                                      <p:cBhvr additive="base">
                                        <p:cTn id="15" dur="1000"/>
                                        <p:tgtEl>
                                          <p:spTgt spid="980"/>
                                        </p:tgtEl>
                                        <p:attrNameLst>
                                          <p:attrName>ppt_x</p:attrName>
                                        </p:attrNameLst>
                                      </p:cBhvr>
                                      <p:tavLst>
                                        <p:tav tm="0">
                                          <p:val>
                                            <p:strVal val="#ppt_x+1"/>
                                          </p:val>
                                        </p:tav>
                                        <p:tav tm="100000">
                                          <p:val>
                                            <p:strVal val="#ppt_x"/>
                                          </p:val>
                                        </p:tav>
                                      </p:tavLst>
                                    </p:anim>
                                  </p:childTnLst>
                                </p:cTn>
                              </p:par>
                              <p:par>
                                <p:cTn id="16" presetID="2" presetClass="entr" presetSubtype="2" fill="hold" nodeType="withEffect">
                                  <p:stCondLst>
                                    <p:cond delay="0"/>
                                  </p:stCondLst>
                                  <p:childTnLst>
                                    <p:set>
                                      <p:cBhvr>
                                        <p:cTn id="17" dur="1" fill="hold">
                                          <p:stCondLst>
                                            <p:cond delay="0"/>
                                          </p:stCondLst>
                                        </p:cTn>
                                        <p:tgtEl>
                                          <p:spTgt spid="984"/>
                                        </p:tgtEl>
                                        <p:attrNameLst>
                                          <p:attrName>style.visibility</p:attrName>
                                        </p:attrNameLst>
                                      </p:cBhvr>
                                      <p:to>
                                        <p:strVal val="visible"/>
                                      </p:to>
                                    </p:set>
                                    <p:anim calcmode="lin" valueType="num">
                                      <p:cBhvr additive="base">
                                        <p:cTn id="18" dur="1000"/>
                                        <p:tgtEl>
                                          <p:spTgt spid="984"/>
                                        </p:tgtEl>
                                        <p:attrNameLst>
                                          <p:attrName>ppt_x</p:attrName>
                                        </p:attrNameLst>
                                      </p:cBhvr>
                                      <p:tavLst>
                                        <p:tav tm="0">
                                          <p:val>
                                            <p:strVal val="#ppt_x+1"/>
                                          </p:val>
                                        </p:tav>
                                        <p:tav tm="100000">
                                          <p:val>
                                            <p:strVal val="#ppt_x"/>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970"/>
                                        </p:tgtEl>
                                        <p:attrNameLst>
                                          <p:attrName>style.visibility</p:attrName>
                                        </p:attrNameLst>
                                      </p:cBhvr>
                                      <p:to>
                                        <p:strVal val="visible"/>
                                      </p:to>
                                    </p:set>
                                    <p:anim calcmode="lin" valueType="num">
                                      <p:cBhvr additive="base">
                                        <p:cTn id="23" dur="1000"/>
                                        <p:tgtEl>
                                          <p:spTgt spid="970"/>
                                        </p:tgtEl>
                                        <p:attrNameLst>
                                          <p:attrName>ppt_x</p:attrName>
                                        </p:attrNameLst>
                                      </p:cBhvr>
                                      <p:tavLst>
                                        <p:tav tm="0">
                                          <p:val>
                                            <p:strVal val="#ppt_x+1"/>
                                          </p:val>
                                        </p:tav>
                                        <p:tav tm="100000">
                                          <p:val>
                                            <p:strVal val="#ppt_x"/>
                                          </p:val>
                                        </p:tav>
                                      </p:tavLst>
                                    </p:anim>
                                  </p:childTnLst>
                                </p:cTn>
                              </p:par>
                              <p:par>
                                <p:cTn id="24" presetID="2" presetClass="entr" presetSubtype="2" fill="hold" nodeType="withEffect">
                                  <p:stCondLst>
                                    <p:cond delay="0"/>
                                  </p:stCondLst>
                                  <p:childTnLst>
                                    <p:set>
                                      <p:cBhvr>
                                        <p:cTn id="25" dur="1" fill="hold">
                                          <p:stCondLst>
                                            <p:cond delay="0"/>
                                          </p:stCondLst>
                                        </p:cTn>
                                        <p:tgtEl>
                                          <p:spTgt spid="975"/>
                                        </p:tgtEl>
                                        <p:attrNameLst>
                                          <p:attrName>style.visibility</p:attrName>
                                        </p:attrNameLst>
                                      </p:cBhvr>
                                      <p:to>
                                        <p:strVal val="visible"/>
                                      </p:to>
                                    </p:set>
                                    <p:anim calcmode="lin" valueType="num">
                                      <p:cBhvr additive="base">
                                        <p:cTn id="26" dur="1000"/>
                                        <p:tgtEl>
                                          <p:spTgt spid="975"/>
                                        </p:tgtEl>
                                        <p:attrNameLst>
                                          <p:attrName>ppt_x</p:attrName>
                                        </p:attrNameLst>
                                      </p:cBhvr>
                                      <p:tavLst>
                                        <p:tav tm="0">
                                          <p:val>
                                            <p:strVal val="#ppt_x+1"/>
                                          </p:val>
                                        </p:tav>
                                        <p:tav tm="100000">
                                          <p:val>
                                            <p:strVal val="#ppt_x"/>
                                          </p:val>
                                        </p:tav>
                                      </p:tavLst>
                                    </p:anim>
                                  </p:childTnLst>
                                </p:cTn>
                              </p:par>
                              <p:par>
                                <p:cTn id="27" presetID="2" presetClass="entr" presetSubtype="2" fill="hold" nodeType="withEffect">
                                  <p:stCondLst>
                                    <p:cond delay="0"/>
                                  </p:stCondLst>
                                  <p:childTnLst>
                                    <p:set>
                                      <p:cBhvr>
                                        <p:cTn id="28" dur="1" fill="hold">
                                          <p:stCondLst>
                                            <p:cond delay="0"/>
                                          </p:stCondLst>
                                        </p:cTn>
                                        <p:tgtEl>
                                          <p:spTgt spid="988"/>
                                        </p:tgtEl>
                                        <p:attrNameLst>
                                          <p:attrName>style.visibility</p:attrName>
                                        </p:attrNameLst>
                                      </p:cBhvr>
                                      <p:to>
                                        <p:strVal val="visible"/>
                                      </p:to>
                                    </p:set>
                                    <p:anim calcmode="lin" valueType="num">
                                      <p:cBhvr additive="base">
                                        <p:cTn id="29" dur="1000"/>
                                        <p:tgtEl>
                                          <p:spTgt spid="988"/>
                                        </p:tgtEl>
                                        <p:attrNameLst>
                                          <p:attrName>ppt_x</p:attrName>
                                        </p:attrNameLst>
                                      </p:cBhvr>
                                      <p:tavLst>
                                        <p:tav tm="0">
                                          <p:val>
                                            <p:strVal val="#ppt_x+1"/>
                                          </p:val>
                                        </p:tav>
                                        <p:tav tm="100000">
                                          <p:val>
                                            <p:strVal val="#ppt_x"/>
                                          </p:val>
                                        </p:tav>
                                      </p:tavLst>
                                    </p:anim>
                                  </p:childTnLst>
                                </p:cTn>
                              </p:par>
                              <p:par>
                                <p:cTn id="30" presetID="2" presetClass="entr" presetSubtype="2" fill="hold" nodeType="withEffect">
                                  <p:stCondLst>
                                    <p:cond delay="0"/>
                                  </p:stCondLst>
                                  <p:childTnLst>
                                    <p:set>
                                      <p:cBhvr>
                                        <p:cTn id="31" dur="1" fill="hold">
                                          <p:stCondLst>
                                            <p:cond delay="0"/>
                                          </p:stCondLst>
                                        </p:cTn>
                                        <p:tgtEl>
                                          <p:spTgt spid="989"/>
                                        </p:tgtEl>
                                        <p:attrNameLst>
                                          <p:attrName>style.visibility</p:attrName>
                                        </p:attrNameLst>
                                      </p:cBhvr>
                                      <p:to>
                                        <p:strVal val="visible"/>
                                      </p:to>
                                    </p:set>
                                    <p:anim calcmode="lin" valueType="num">
                                      <p:cBhvr additive="base">
                                        <p:cTn id="32" dur="1000"/>
                                        <p:tgtEl>
                                          <p:spTgt spid="989"/>
                                        </p:tgtEl>
                                        <p:attrNameLst>
                                          <p:attrName>ppt_x</p:attrName>
                                        </p:attrNameLst>
                                      </p:cBhvr>
                                      <p:tavLst>
                                        <p:tav tm="0">
                                          <p:val>
                                            <p:strVal val="#ppt_x+1"/>
                                          </p:val>
                                        </p:tav>
                                        <p:tav tm="100000">
                                          <p:val>
                                            <p:strVal val="#ppt_x"/>
                                          </p:val>
                                        </p:tav>
                                      </p:tavLst>
                                    </p:anim>
                                  </p:childTnLst>
                                </p:cTn>
                              </p:par>
                              <p:par>
                                <p:cTn id="33" presetID="2" presetClass="entr" presetSubtype="2" fill="hold" nodeType="withEffect">
                                  <p:stCondLst>
                                    <p:cond delay="0"/>
                                  </p:stCondLst>
                                  <p:childTnLst>
                                    <p:set>
                                      <p:cBhvr>
                                        <p:cTn id="34" dur="1" fill="hold">
                                          <p:stCondLst>
                                            <p:cond delay="0"/>
                                          </p:stCondLst>
                                        </p:cTn>
                                        <p:tgtEl>
                                          <p:spTgt spid="987"/>
                                        </p:tgtEl>
                                        <p:attrNameLst>
                                          <p:attrName>style.visibility</p:attrName>
                                        </p:attrNameLst>
                                      </p:cBhvr>
                                      <p:to>
                                        <p:strVal val="visible"/>
                                      </p:to>
                                    </p:set>
                                    <p:anim calcmode="lin" valueType="num">
                                      <p:cBhvr additive="base">
                                        <p:cTn id="35" dur="1000"/>
                                        <p:tgtEl>
                                          <p:spTgt spid="987"/>
                                        </p:tgtEl>
                                        <p:attrNameLst>
                                          <p:attrName>ppt_x</p:attrName>
                                        </p:attrNameLst>
                                      </p:cBhvr>
                                      <p:tavLst>
                                        <p:tav tm="0">
                                          <p:val>
                                            <p:strVal val="#ppt_x+1"/>
                                          </p:val>
                                        </p:tav>
                                        <p:tav tm="100000">
                                          <p:val>
                                            <p:strVal val="#ppt_x"/>
                                          </p:val>
                                        </p:tav>
                                      </p:tavLst>
                                    </p:anim>
                                  </p:childTnLst>
                                </p:cTn>
                              </p:par>
                              <p:par>
                                <p:cTn id="36" presetID="2" presetClass="entr" presetSubtype="2" fill="hold" nodeType="withEffect">
                                  <p:stCondLst>
                                    <p:cond delay="0"/>
                                  </p:stCondLst>
                                  <p:childTnLst>
                                    <p:set>
                                      <p:cBhvr>
                                        <p:cTn id="37" dur="1" fill="hold">
                                          <p:stCondLst>
                                            <p:cond delay="0"/>
                                          </p:stCondLst>
                                        </p:cTn>
                                        <p:tgtEl>
                                          <p:spTgt spid="990"/>
                                        </p:tgtEl>
                                        <p:attrNameLst>
                                          <p:attrName>style.visibility</p:attrName>
                                        </p:attrNameLst>
                                      </p:cBhvr>
                                      <p:to>
                                        <p:strVal val="visible"/>
                                      </p:to>
                                    </p:set>
                                    <p:anim calcmode="lin" valueType="num">
                                      <p:cBhvr additive="base">
                                        <p:cTn id="38" dur="1000"/>
                                        <p:tgtEl>
                                          <p:spTgt spid="990"/>
                                        </p:tgtEl>
                                        <p:attrNameLst>
                                          <p:attrName>ppt_x</p:attrName>
                                        </p:attrNameLst>
                                      </p:cBhvr>
                                      <p:tavLst>
                                        <p:tav tm="0">
                                          <p:val>
                                            <p:strVal val="#ppt_x+1"/>
                                          </p:val>
                                        </p:tav>
                                        <p:tav tm="100000">
                                          <p:val>
                                            <p:strVal val="#ppt_x"/>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991"/>
                                        </p:tgtEl>
                                        <p:attrNameLst>
                                          <p:attrName>style.visibility</p:attrName>
                                        </p:attrNameLst>
                                      </p:cBhvr>
                                      <p:to>
                                        <p:strVal val="visible"/>
                                      </p:to>
                                    </p:set>
                                    <p:anim calcmode="lin" valueType="num">
                                      <p:cBhvr additive="base">
                                        <p:cTn id="43" dur="1000"/>
                                        <p:tgtEl>
                                          <p:spTgt spid="991"/>
                                        </p:tgtEl>
                                        <p:attrNameLst>
                                          <p:attrName>ppt_x</p:attrName>
                                        </p:attrNameLst>
                                      </p:cBhvr>
                                      <p:tavLst>
                                        <p:tav tm="0">
                                          <p:val>
                                            <p:strVal val="#ppt_x+1"/>
                                          </p:val>
                                        </p:tav>
                                        <p:tav tm="100000">
                                          <p:val>
                                            <p:strVal val="#ppt_x"/>
                                          </p:val>
                                        </p:tav>
                                      </p:tavLst>
                                    </p:anim>
                                  </p:childTnLst>
                                </p:cTn>
                              </p:par>
                              <p:par>
                                <p:cTn id="44" presetID="2" presetClass="entr" presetSubtype="2" fill="hold" nodeType="withEffect">
                                  <p:stCondLst>
                                    <p:cond delay="0"/>
                                  </p:stCondLst>
                                  <p:childTnLst>
                                    <p:set>
                                      <p:cBhvr>
                                        <p:cTn id="45" dur="1" fill="hold">
                                          <p:stCondLst>
                                            <p:cond delay="0"/>
                                          </p:stCondLst>
                                        </p:cTn>
                                        <p:tgtEl>
                                          <p:spTgt spid="1006"/>
                                        </p:tgtEl>
                                        <p:attrNameLst>
                                          <p:attrName>style.visibility</p:attrName>
                                        </p:attrNameLst>
                                      </p:cBhvr>
                                      <p:to>
                                        <p:strVal val="visible"/>
                                      </p:to>
                                    </p:set>
                                    <p:anim calcmode="lin" valueType="num">
                                      <p:cBhvr additive="base">
                                        <p:cTn id="46" dur="1000"/>
                                        <p:tgtEl>
                                          <p:spTgt spid="1006"/>
                                        </p:tgtEl>
                                        <p:attrNameLst>
                                          <p:attrName>ppt_x</p:attrName>
                                        </p:attrNameLst>
                                      </p:cBhvr>
                                      <p:tavLst>
                                        <p:tav tm="0">
                                          <p:val>
                                            <p:strVal val="#ppt_x+1"/>
                                          </p:val>
                                        </p:tav>
                                        <p:tav tm="100000">
                                          <p:val>
                                            <p:strVal val="#ppt_x"/>
                                          </p:val>
                                        </p:tav>
                                      </p:tavLst>
                                    </p:anim>
                                  </p:childTnLst>
                                </p:cTn>
                              </p:par>
                              <p:par>
                                <p:cTn id="47" presetID="2" presetClass="entr" presetSubtype="2" fill="hold"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1000"/>
                                        <p:tgtEl>
                                          <p:spTgt spid="12"/>
                                        </p:tgtEl>
                                        <p:attrNameLst>
                                          <p:attrName>ppt_x</p:attrName>
                                        </p:attrNameLst>
                                      </p:cBhvr>
                                      <p:tavLst>
                                        <p:tav tm="0">
                                          <p:val>
                                            <p:strVal val="#ppt_x+1"/>
                                          </p:val>
                                        </p:tav>
                                        <p:tav tm="100000">
                                          <p:val>
                                            <p:strVal val="#ppt_x"/>
                                          </p:val>
                                        </p:tav>
                                      </p:tavLst>
                                    </p:anim>
                                  </p:childTnLst>
                                </p:cTn>
                              </p:par>
                              <p:par>
                                <p:cTn id="50" presetID="2" presetClass="entr" presetSubtype="2"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1000"/>
                                        <p:tgtEl>
                                          <p:spTgt spid="13"/>
                                        </p:tgtEl>
                                        <p:attrNameLst>
                                          <p:attrName>ppt_x</p:attrName>
                                        </p:attrNameLst>
                                      </p:cBhvr>
                                      <p:tavLst>
                                        <p:tav tm="0">
                                          <p:val>
                                            <p:strVal val="#ppt_x+1"/>
                                          </p:val>
                                        </p:tav>
                                        <p:tav tm="100000">
                                          <p:val>
                                            <p:strVal val="#ppt_x"/>
                                          </p:val>
                                        </p:tav>
                                      </p:tavLst>
                                    </p:anim>
                                  </p:childTnLst>
                                </p:cTn>
                              </p:par>
                              <p:par>
                                <p:cTn id="53" presetID="2" presetClass="entr" presetSubtype="2" fill="hold"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1000"/>
                                        <p:tgtEl>
                                          <p:spTgt spid="14"/>
                                        </p:tgtEl>
                                        <p:attrNameLst>
                                          <p:attrName>ppt_x</p:attrName>
                                        </p:attrNameLst>
                                      </p:cBhvr>
                                      <p:tavLst>
                                        <p:tav tm="0">
                                          <p:val>
                                            <p:strVal val="#ppt_x+1"/>
                                          </p:val>
                                        </p:tav>
                                        <p:tav tm="100000">
                                          <p:val>
                                            <p:strVal val="#ppt_x"/>
                                          </p:val>
                                        </p:tav>
                                      </p:tavLst>
                                    </p:anim>
                                  </p:childTnLst>
                                </p:cTn>
                              </p:par>
                              <p:par>
                                <p:cTn id="56" presetID="2" presetClass="entr" presetSubtype="2" fill="hold" nodeType="withEffect">
                                  <p:stCondLst>
                                    <p:cond delay="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1000"/>
                                        <p:tgtEl>
                                          <p:spTgt spid="15"/>
                                        </p:tgtEl>
                                        <p:attrNameLst>
                                          <p:attrName>ppt_x</p:attrName>
                                        </p:attrNameLst>
                                      </p:cBhvr>
                                      <p:tavLst>
                                        <p:tav tm="0">
                                          <p:val>
                                            <p:strVal val="#ppt_x+1"/>
                                          </p:val>
                                        </p:tav>
                                        <p:tav tm="100000">
                                          <p:val>
                                            <p:strVal val="#ppt_x"/>
                                          </p:val>
                                        </p:tav>
                                      </p:tavLst>
                                    </p:anim>
                                  </p:childTnLst>
                                </p:cTn>
                              </p:par>
                              <p:par>
                                <p:cTn id="59" presetID="2" presetClass="entr" presetSubtype="2" fill="hold" nodeType="with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1000"/>
                                        <p:tgtEl>
                                          <p:spTgt spid="16"/>
                                        </p:tgtEl>
                                        <p:attrNameLst>
                                          <p:attrName>ppt_x</p:attrName>
                                        </p:attrNameLst>
                                      </p:cBhvr>
                                      <p:tavLst>
                                        <p:tav tm="0">
                                          <p:val>
                                            <p:strVal val="#ppt_x+1"/>
                                          </p:val>
                                        </p:tav>
                                        <p:tav tm="100000">
                                          <p:val>
                                            <p:strVal val="#ppt_x"/>
                                          </p:val>
                                        </p:tav>
                                      </p:tavLst>
                                    </p:anim>
                                  </p:childTnLst>
                                </p:cTn>
                              </p:par>
                              <p:par>
                                <p:cTn id="62" presetID="2" presetClass="entr" presetSubtype="2"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1000"/>
                                        <p:tgtEl>
                                          <p:spTgt spid="17"/>
                                        </p:tgtEl>
                                        <p:attrNameLst>
                                          <p:attrName>ppt_x</p:attrName>
                                        </p:attrNameLst>
                                      </p:cBhvr>
                                      <p:tavLst>
                                        <p:tav tm="0">
                                          <p:val>
                                            <p:strVal val="#ppt_x+1"/>
                                          </p:val>
                                        </p:tav>
                                        <p:tav tm="100000">
                                          <p:val>
                                            <p:strVal val="#ppt_x"/>
                                          </p:val>
                                        </p:tav>
                                      </p:tavLst>
                                    </p:anim>
                                  </p:childTnLst>
                                </p:cTn>
                              </p:par>
                              <p:par>
                                <p:cTn id="65" presetID="2" presetClass="entr" presetSubtype="2"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1000"/>
                                        <p:tgtEl>
                                          <p:spTgt spid="18"/>
                                        </p:tgtEl>
                                        <p:attrNameLst>
                                          <p:attrName>ppt_x</p:attrName>
                                        </p:attrNameLst>
                                      </p:cBhvr>
                                      <p:tavLst>
                                        <p:tav tm="0">
                                          <p:val>
                                            <p:strVal val="#ppt_x+1"/>
                                          </p:val>
                                        </p:tav>
                                        <p:tav tm="100000">
                                          <p:val>
                                            <p:strVal val="#ppt_x"/>
                                          </p:val>
                                        </p:tav>
                                      </p:tavLst>
                                    </p:anim>
                                  </p:childTnLst>
                                </p:cTn>
                              </p:par>
                              <p:par>
                                <p:cTn id="68" presetID="2" presetClass="entr" presetSubtype="2" fill="hold" nodeType="withEffect">
                                  <p:stCondLst>
                                    <p:cond delay="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1000"/>
                                        <p:tgtEl>
                                          <p:spTgt spid="1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8"/>
        <p:cNvGrpSpPr/>
        <p:nvPr/>
      </p:nvGrpSpPr>
      <p:grpSpPr>
        <a:xfrm>
          <a:off x="0" y="0"/>
          <a:ext cx="0" cy="0"/>
          <a:chOff x="0" y="0"/>
          <a:chExt cx="0" cy="0"/>
        </a:xfrm>
      </p:grpSpPr>
      <p:sp>
        <p:nvSpPr>
          <p:cNvPr id="579" name="Google Shape;579;p70"/>
          <p:cNvSpPr txBox="1">
            <a:spLocks noGrp="1"/>
          </p:cNvSpPr>
          <p:nvPr>
            <p:ph type="title"/>
          </p:nvPr>
        </p:nvSpPr>
        <p:spPr>
          <a:xfrm>
            <a:off x="105669" y="725194"/>
            <a:ext cx="8255549" cy="1544437"/>
          </a:xfrm>
          <a:prstGeom prst="rect">
            <a:avLst/>
          </a:prstGeom>
        </p:spPr>
        <p:txBody>
          <a:bodyPr spcFirstLastPara="1" wrap="square" lIns="91425" tIns="91425" rIns="91425" bIns="91425" anchor="t" anchorCtr="0">
            <a:noAutofit/>
          </a:bodyPr>
          <a:lstStyle/>
          <a:p>
            <a:pPr marL="0" lvl="0" indent="0" algn="ctr">
              <a:buClr>
                <a:schemeClr val="dk1"/>
              </a:buClr>
              <a:buSzPts val="1100"/>
            </a:pPr>
            <a:r>
              <a:rPr lang="ca-ES" dirty="0">
                <a:solidFill>
                  <a:srgbClr val="7B9B71"/>
                </a:solidFill>
              </a:rPr>
              <a:t>Anàlisi del microentorn</a:t>
            </a:r>
          </a:p>
        </p:txBody>
      </p:sp>
      <p:sp>
        <p:nvSpPr>
          <p:cNvPr id="581" name="Google Shape;581;p70"/>
          <p:cNvSpPr txBox="1">
            <a:spLocks noGrp="1"/>
          </p:cNvSpPr>
          <p:nvPr>
            <p:ph type="subTitle" idx="1"/>
          </p:nvPr>
        </p:nvSpPr>
        <p:spPr>
          <a:xfrm>
            <a:off x="748145" y="1840141"/>
            <a:ext cx="5029200" cy="2076145"/>
          </a:xfrm>
          <a:prstGeom prst="rect">
            <a:avLst/>
          </a:prstGeom>
        </p:spPr>
        <p:txBody>
          <a:bodyPr spcFirstLastPara="1" wrap="square" lIns="91425" tIns="91425" rIns="91425" bIns="91425" anchor="t" anchorCtr="0">
            <a:noAutofit/>
          </a:bodyPr>
          <a:lstStyle/>
          <a:p>
            <a:pPr marL="0" lvl="0" indent="0" algn="ctr">
              <a:buClr>
                <a:schemeClr val="dk1"/>
              </a:buClr>
              <a:buSzPts val="1100"/>
            </a:pPr>
            <a:endParaRPr lang="en-US" dirty="0"/>
          </a:p>
          <a:p>
            <a:pPr marL="0" lvl="0" indent="0" algn="l">
              <a:buClr>
                <a:schemeClr val="dk1"/>
              </a:buClr>
              <a:buSzPts val="1100"/>
            </a:pPr>
            <a:r>
              <a:rPr lang="ca-ES" dirty="0"/>
              <a:t>El microentorn, entorn específic o entorn intern o competitiu de l'empresa està format</a:t>
            </a:r>
          </a:p>
          <a:p>
            <a:pPr marL="0" lvl="0" indent="0" algn="l">
              <a:buClr>
                <a:schemeClr val="dk1"/>
              </a:buClr>
              <a:buSzPts val="1100"/>
            </a:pPr>
            <a:r>
              <a:rPr lang="ca-ES" dirty="0"/>
              <a:t>per tots aquells elements de l'entorn que tenen una relació directa amb l'empresa. </a:t>
            </a:r>
          </a:p>
          <a:p>
            <a:pPr marL="0" lvl="0" indent="0" algn="l">
              <a:buClr>
                <a:schemeClr val="dk1"/>
              </a:buClr>
              <a:buSzPts val="1100"/>
            </a:pPr>
            <a:endParaRPr lang="ca-ES" dirty="0"/>
          </a:p>
          <a:p>
            <a:pPr marL="0" lvl="0" indent="0" algn="l">
              <a:buClr>
                <a:schemeClr val="dk1"/>
              </a:buClr>
              <a:buSzPts val="1100"/>
            </a:pPr>
            <a:r>
              <a:rPr lang="ca-ES" dirty="0"/>
              <a:t>Per tal de fer anàlisis del microentorn ho farem a través del model de les cinc forces</a:t>
            </a:r>
          </a:p>
          <a:p>
            <a:pPr marL="0" lvl="0" indent="0" algn="l">
              <a:buClr>
                <a:schemeClr val="dk1"/>
              </a:buClr>
              <a:buSzPts val="1100"/>
            </a:pPr>
            <a:r>
              <a:rPr lang="ca-ES" dirty="0"/>
              <a:t>competitives de Porter (1982):</a:t>
            </a:r>
          </a:p>
        </p:txBody>
      </p:sp>
      <p:pic>
        <p:nvPicPr>
          <p:cNvPr id="2100" name="Picture 2099">
            <a:extLst>
              <a:ext uri="{FF2B5EF4-FFF2-40B4-BE49-F238E27FC236}">
                <a16:creationId xmlns:a16="http://schemas.microsoft.com/office/drawing/2014/main" id="{BA6B1B2E-E7F4-87D4-2E24-8021F03B3B77}"/>
              </a:ext>
            </a:extLst>
          </p:cNvPr>
          <p:cNvPicPr>
            <a:picLocks noChangeAspect="1"/>
          </p:cNvPicPr>
          <p:nvPr/>
        </p:nvPicPr>
        <p:blipFill>
          <a:blip r:embed="rId3"/>
          <a:stretch>
            <a:fillRect/>
          </a:stretch>
        </p:blipFill>
        <p:spPr>
          <a:xfrm>
            <a:off x="5708650" y="2571750"/>
            <a:ext cx="2142962" cy="17030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096" name="Google Shape;4195;p136">
            <a:extLst>
              <a:ext uri="{FF2B5EF4-FFF2-40B4-BE49-F238E27FC236}">
                <a16:creationId xmlns:a16="http://schemas.microsoft.com/office/drawing/2014/main" id="{6E0167F5-9488-0D9C-8936-E48AEDBB2318}"/>
              </a:ext>
            </a:extLst>
          </p:cNvPr>
          <p:cNvSpPr/>
          <p:nvPr/>
        </p:nvSpPr>
        <p:spPr>
          <a:xfrm>
            <a:off x="6221485" y="3444240"/>
            <a:ext cx="270755" cy="337704"/>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07310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79"/>
                                        </p:tgtEl>
                                        <p:attrNameLst>
                                          <p:attrName>style.visibility</p:attrName>
                                        </p:attrNameLst>
                                      </p:cBhvr>
                                      <p:to>
                                        <p:strVal val="visible"/>
                                      </p:to>
                                    </p:set>
                                    <p:anim calcmode="lin" valueType="num">
                                      <p:cBhvr additive="base">
                                        <p:cTn id="7" dur="1000"/>
                                        <p:tgtEl>
                                          <p:spTgt spid="579"/>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581"/>
                                        </p:tgtEl>
                                        <p:attrNameLst>
                                          <p:attrName>style.visibility</p:attrName>
                                        </p:attrNameLst>
                                      </p:cBhvr>
                                      <p:to>
                                        <p:strVal val="visible"/>
                                      </p:to>
                                    </p:set>
                                    <p:anim calcmode="lin" valueType="num">
                                      <p:cBhvr additive="base">
                                        <p:cTn id="10" dur="1000"/>
                                        <p:tgtEl>
                                          <p:spTgt spid="58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solidFill>
                  <a:srgbClr val="7B9B71"/>
                </a:solidFill>
              </a:rPr>
              <a:t>Forces competitives de Porter (1982):</a:t>
            </a:r>
          </a:p>
        </p:txBody>
      </p:sp>
      <p:sp>
        <p:nvSpPr>
          <p:cNvPr id="622" name="Google Shape;622;p73"/>
          <p:cNvSpPr txBox="1">
            <a:spLocks noGrp="1"/>
          </p:cNvSpPr>
          <p:nvPr>
            <p:ph type="subTitle" idx="3"/>
          </p:nvPr>
        </p:nvSpPr>
        <p:spPr>
          <a:xfrm>
            <a:off x="952500" y="1472026"/>
            <a:ext cx="6717792" cy="50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ca-ES" dirty="0"/>
              <a:t>Amenaça de competidors actuals: Nivell alt</a:t>
            </a:r>
          </a:p>
        </p:txBody>
      </p:sp>
      <p:sp>
        <p:nvSpPr>
          <p:cNvPr id="623" name="Google Shape;623;p73"/>
          <p:cNvSpPr txBox="1">
            <a:spLocks noGrp="1"/>
          </p:cNvSpPr>
          <p:nvPr>
            <p:ph type="subTitle" idx="4"/>
          </p:nvPr>
        </p:nvSpPr>
        <p:spPr>
          <a:xfrm>
            <a:off x="1389888" y="1973326"/>
            <a:ext cx="5843016" cy="132969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err="1"/>
              <a:t>Com</a:t>
            </a:r>
            <a:r>
              <a:rPr lang="es-ES" dirty="0"/>
              <a:t> a </a:t>
            </a:r>
            <a:r>
              <a:rPr lang="es-ES" dirty="0" err="1"/>
              <a:t>competidors</a:t>
            </a:r>
            <a:r>
              <a:rPr lang="es-ES" dirty="0"/>
              <a:t> </a:t>
            </a:r>
            <a:r>
              <a:rPr lang="es-ES" dirty="0" err="1"/>
              <a:t>tenim</a:t>
            </a:r>
            <a:r>
              <a:rPr lang="es-ES" dirty="0"/>
              <a:t> </a:t>
            </a:r>
            <a:r>
              <a:rPr lang="es-ES" dirty="0" err="1"/>
              <a:t>empreses</a:t>
            </a:r>
            <a:r>
              <a:rPr lang="es-ES" dirty="0"/>
              <a:t> </a:t>
            </a:r>
            <a:r>
              <a:rPr lang="es-ES" dirty="0" err="1"/>
              <a:t>com</a:t>
            </a:r>
            <a:r>
              <a:rPr lang="es-ES" dirty="0"/>
              <a:t> “La </a:t>
            </a:r>
            <a:r>
              <a:rPr lang="es-ES" dirty="0" err="1"/>
              <a:t>llibreria</a:t>
            </a:r>
            <a:r>
              <a:rPr lang="es-ES" dirty="0"/>
              <a:t> – Andorra la Vella”, “</a:t>
            </a:r>
            <a:r>
              <a:rPr lang="es-ES" dirty="0" err="1"/>
              <a:t>Llibre</a:t>
            </a:r>
            <a:r>
              <a:rPr lang="es-ES" dirty="0"/>
              <a:t> Idees – Illa </a:t>
            </a:r>
            <a:r>
              <a:rPr lang="es-ES" dirty="0" err="1"/>
              <a:t>Carlemany</a:t>
            </a:r>
            <a:r>
              <a:rPr lang="es-ES" dirty="0"/>
              <a:t>” o “</a:t>
            </a:r>
            <a:r>
              <a:rPr lang="es-ES" dirty="0" err="1"/>
              <a:t>Llibreria</a:t>
            </a:r>
            <a:r>
              <a:rPr lang="es-ES" dirty="0"/>
              <a:t> la Trenca - Andorra” </a:t>
            </a:r>
          </a:p>
          <a:p>
            <a:pPr marL="0" lvl="0" indent="0" algn="l" rtl="0">
              <a:spcBef>
                <a:spcPts val="0"/>
              </a:spcBef>
              <a:spcAft>
                <a:spcPts val="0"/>
              </a:spcAft>
              <a:buNone/>
            </a:pPr>
            <a:endParaRPr lang="es-ES" dirty="0"/>
          </a:p>
          <a:p>
            <a:pPr marL="0" lvl="0" indent="0" algn="l" rtl="0">
              <a:spcBef>
                <a:spcPts val="0"/>
              </a:spcBef>
              <a:spcAft>
                <a:spcPts val="0"/>
              </a:spcAft>
              <a:buNone/>
            </a:pPr>
            <a:r>
              <a:rPr lang="es-ES" dirty="0" err="1"/>
              <a:t>Altrament</a:t>
            </a:r>
            <a:r>
              <a:rPr lang="es-ES" dirty="0"/>
              <a:t> </a:t>
            </a:r>
            <a:r>
              <a:rPr lang="es-ES" dirty="0" err="1"/>
              <a:t>existeixen</a:t>
            </a:r>
            <a:r>
              <a:rPr lang="es-ES" dirty="0"/>
              <a:t> un </a:t>
            </a:r>
            <a:r>
              <a:rPr lang="es-ES" dirty="0" err="1"/>
              <a:t>mut</a:t>
            </a:r>
            <a:r>
              <a:rPr lang="es-ES" dirty="0"/>
              <a:t> de </a:t>
            </a:r>
            <a:r>
              <a:rPr lang="es-ES" dirty="0" err="1"/>
              <a:t>llibreríes</a:t>
            </a:r>
            <a:r>
              <a:rPr lang="es-ES" dirty="0"/>
              <a:t> Online.</a:t>
            </a:r>
            <a:endParaRPr lang="en-US" dirty="0"/>
          </a:p>
        </p:txBody>
      </p:sp>
    </p:spTree>
    <p:extLst>
      <p:ext uri="{BB962C8B-B14F-4D97-AF65-F5344CB8AC3E}">
        <p14:creationId xmlns:p14="http://schemas.microsoft.com/office/powerpoint/2010/main" val="3732382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solidFill>
                  <a:srgbClr val="7B9B71"/>
                </a:solidFill>
              </a:rPr>
              <a:t>Forces competitives de Porter (1982):</a:t>
            </a:r>
          </a:p>
        </p:txBody>
      </p:sp>
      <p:sp>
        <p:nvSpPr>
          <p:cNvPr id="622" name="Google Shape;622;p73"/>
          <p:cNvSpPr txBox="1">
            <a:spLocks noGrp="1"/>
          </p:cNvSpPr>
          <p:nvPr>
            <p:ph type="subTitle" idx="3"/>
          </p:nvPr>
        </p:nvSpPr>
        <p:spPr>
          <a:xfrm>
            <a:off x="1036320" y="1472026"/>
            <a:ext cx="6717792" cy="50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ca-ES" dirty="0"/>
              <a:t>Amenaça de competidors potencials: Nivell alt</a:t>
            </a:r>
          </a:p>
        </p:txBody>
      </p:sp>
      <p:sp>
        <p:nvSpPr>
          <p:cNvPr id="623" name="Google Shape;623;p73"/>
          <p:cNvSpPr txBox="1">
            <a:spLocks noGrp="1"/>
          </p:cNvSpPr>
          <p:nvPr>
            <p:ph type="subTitle" idx="4"/>
          </p:nvPr>
        </p:nvSpPr>
        <p:spPr>
          <a:xfrm>
            <a:off x="1215820" y="2040382"/>
            <a:ext cx="5928691" cy="132969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b="0" i="0" dirty="0">
                <a:solidFill>
                  <a:srgbClr val="000000"/>
                </a:solidFill>
                <a:effectLst/>
                <a:latin typeface="Open Sans" panose="020B0606030504020204" pitchFamily="34" charset="0"/>
              </a:rPr>
              <a:t>Considerem que el nostre negoci és fàcilment imitable amb una barrera d'entrada relativament baixa. En aquest sentit, intentarem crear valor amb una estratègia de diferenciació orientada als ODS (Objectius de Desenvolupament Sostenibles).</a:t>
            </a:r>
            <a:endParaRPr lang="ca-ES" dirty="0"/>
          </a:p>
        </p:txBody>
      </p:sp>
    </p:spTree>
    <p:extLst>
      <p:ext uri="{BB962C8B-B14F-4D97-AF65-F5344CB8AC3E}">
        <p14:creationId xmlns:p14="http://schemas.microsoft.com/office/powerpoint/2010/main" val="59414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solidFill>
                  <a:srgbClr val="7B9B71"/>
                </a:solidFill>
              </a:rPr>
              <a:t>Forces competitives de Porter (1982):</a:t>
            </a:r>
          </a:p>
        </p:txBody>
      </p:sp>
      <p:sp>
        <p:nvSpPr>
          <p:cNvPr id="622" name="Google Shape;622;p73"/>
          <p:cNvSpPr txBox="1">
            <a:spLocks noGrp="1"/>
          </p:cNvSpPr>
          <p:nvPr>
            <p:ph type="subTitle" idx="3"/>
          </p:nvPr>
        </p:nvSpPr>
        <p:spPr>
          <a:xfrm>
            <a:off x="1036320" y="1472026"/>
            <a:ext cx="671779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Amenaça de productes substituts: Nivell Alt.</a:t>
            </a:r>
          </a:p>
        </p:txBody>
      </p:sp>
      <p:sp>
        <p:nvSpPr>
          <p:cNvPr id="623" name="Google Shape;623;p73"/>
          <p:cNvSpPr txBox="1">
            <a:spLocks noGrp="1"/>
          </p:cNvSpPr>
          <p:nvPr>
            <p:ph type="subTitle" idx="4"/>
          </p:nvPr>
        </p:nvSpPr>
        <p:spPr>
          <a:xfrm>
            <a:off x="1036320" y="2052574"/>
            <a:ext cx="5928691" cy="2373122"/>
          </a:xfrm>
          <a:prstGeom prst="rect">
            <a:avLst/>
          </a:prstGeom>
        </p:spPr>
        <p:txBody>
          <a:bodyPr spcFirstLastPara="1" wrap="square" lIns="91425" tIns="91425" rIns="91425" bIns="91425" anchor="t" anchorCtr="0">
            <a:noAutofit/>
          </a:bodyPr>
          <a:lstStyle/>
          <a:p>
            <a:pPr marL="0" marR="0">
              <a:lnSpc>
                <a:spcPct val="115000"/>
              </a:lnSpc>
              <a:spcBef>
                <a:spcPts val="0"/>
              </a:spcBef>
              <a:spcAft>
                <a:spcPts val="0"/>
              </a:spcAft>
            </a:pPr>
            <a:r>
              <a:rPr lang="ca-ES" sz="1800" dirty="0">
                <a:effectLst/>
                <a:latin typeface="Calibri" panose="020F0502020204030204" pitchFamily="34" charset="0"/>
                <a:ea typeface="Times New Roman" panose="02020603050405020304" pitchFamily="18" charset="0"/>
              </a:rPr>
              <a:t> </a:t>
            </a:r>
            <a:endParaRPr lang="en-US" sz="1800" dirty="0">
              <a:effectLst/>
              <a:latin typeface="Arial" panose="020B0604020202020204" pitchFamily="34" charset="0"/>
              <a:ea typeface="Arial" panose="020B0604020202020204" pitchFamily="34" charset="0"/>
            </a:endParaRPr>
          </a:p>
          <a:p>
            <a:pPr marL="342900" marR="0" lvl="0" indent="-342900" algn="l">
              <a:lnSpc>
                <a:spcPct val="115000"/>
              </a:lnSpc>
              <a:spcBef>
                <a:spcPts val="0"/>
              </a:spcBef>
              <a:spcAft>
                <a:spcPts val="0"/>
              </a:spcAft>
              <a:buFont typeface="Symbol" panose="05050102010706020507" pitchFamily="18" charset="2"/>
              <a:buChar char=""/>
            </a:pPr>
            <a:r>
              <a:rPr lang="ca-ES" sz="1800" b="1" dirty="0">
                <a:solidFill>
                  <a:schemeClr val="tx1">
                    <a:lumMod val="65000"/>
                    <a:lumOff val="35000"/>
                  </a:schemeClr>
                </a:solidFill>
                <a:effectLst/>
                <a:latin typeface="Calibri" panose="020F0502020204030204" pitchFamily="34" charset="0"/>
                <a:ea typeface="Times New Roman" panose="02020603050405020304" pitchFamily="18" charset="0"/>
              </a:rPr>
              <a:t>E-</a:t>
            </a:r>
            <a:r>
              <a:rPr lang="ca-ES" sz="1800" b="1" dirty="0" err="1">
                <a:solidFill>
                  <a:schemeClr val="tx1">
                    <a:lumMod val="65000"/>
                    <a:lumOff val="35000"/>
                  </a:schemeClr>
                </a:solidFill>
                <a:effectLst/>
                <a:latin typeface="Calibri" panose="020F0502020204030204" pitchFamily="34" charset="0"/>
                <a:ea typeface="Times New Roman" panose="02020603050405020304" pitchFamily="18" charset="0"/>
              </a:rPr>
              <a:t>Books</a:t>
            </a:r>
            <a:endParaRPr lang="en-US" sz="1800" dirty="0">
              <a:solidFill>
                <a:schemeClr val="tx1">
                  <a:lumMod val="65000"/>
                  <a:lumOff val="35000"/>
                </a:schemeClr>
              </a:solidFill>
              <a:effectLst/>
              <a:latin typeface="Arial" panose="020B0604020202020204" pitchFamily="34" charset="0"/>
              <a:ea typeface="Arial" panose="020B0604020202020204" pitchFamily="34" charset="0"/>
            </a:endParaRPr>
          </a:p>
          <a:p>
            <a:pPr marL="342900" marR="0" lvl="0" indent="-342900" algn="l">
              <a:lnSpc>
                <a:spcPct val="115000"/>
              </a:lnSpc>
              <a:spcBef>
                <a:spcPts val="0"/>
              </a:spcBef>
              <a:spcAft>
                <a:spcPts val="0"/>
              </a:spcAft>
              <a:buFont typeface="Symbol" panose="05050102010706020507" pitchFamily="18" charset="2"/>
              <a:buChar char=""/>
            </a:pPr>
            <a:r>
              <a:rPr lang="ca-ES" sz="1800" b="1" dirty="0">
                <a:solidFill>
                  <a:schemeClr val="tx1">
                    <a:lumMod val="65000"/>
                    <a:lumOff val="35000"/>
                  </a:schemeClr>
                </a:solidFill>
                <a:effectLst/>
                <a:latin typeface="Calibri" panose="020F0502020204030204" pitchFamily="34" charset="0"/>
                <a:ea typeface="Times New Roman" panose="02020603050405020304" pitchFamily="18" charset="0"/>
              </a:rPr>
              <a:t>Audiollibres</a:t>
            </a:r>
            <a:r>
              <a:rPr lang="ca-ES" sz="1800" dirty="0">
                <a:solidFill>
                  <a:schemeClr val="tx1">
                    <a:lumMod val="65000"/>
                    <a:lumOff val="35000"/>
                  </a:schemeClr>
                </a:solidFill>
                <a:effectLst/>
                <a:latin typeface="Calibri" panose="020F0502020204030204" pitchFamily="34" charset="0"/>
                <a:ea typeface="Times New Roman" panose="02020603050405020304" pitchFamily="18" charset="0"/>
              </a:rPr>
              <a:t> </a:t>
            </a:r>
            <a:endParaRPr lang="en-US" sz="1800" dirty="0">
              <a:solidFill>
                <a:schemeClr val="tx1">
                  <a:lumMod val="65000"/>
                  <a:lumOff val="35000"/>
                </a:schemeClr>
              </a:solidFill>
              <a:effectLst/>
              <a:latin typeface="Arial" panose="020B0604020202020204" pitchFamily="34" charset="0"/>
              <a:ea typeface="Arial" panose="020B0604020202020204" pitchFamily="34" charset="0"/>
            </a:endParaRPr>
          </a:p>
          <a:p>
            <a:pPr marL="342900" marR="0" lvl="0" indent="-342900" algn="l">
              <a:lnSpc>
                <a:spcPct val="115000"/>
              </a:lnSpc>
              <a:spcBef>
                <a:spcPts val="0"/>
              </a:spcBef>
              <a:spcAft>
                <a:spcPts val="0"/>
              </a:spcAft>
              <a:buFont typeface="Symbol" panose="05050102010706020507" pitchFamily="18" charset="2"/>
              <a:buChar char=""/>
            </a:pPr>
            <a:r>
              <a:rPr lang="ca-ES" sz="1800" b="1" dirty="0">
                <a:solidFill>
                  <a:schemeClr val="tx1">
                    <a:lumMod val="65000"/>
                    <a:lumOff val="35000"/>
                  </a:schemeClr>
                </a:solidFill>
                <a:effectLst/>
                <a:latin typeface="Calibri" panose="020F0502020204030204" pitchFamily="34" charset="0"/>
                <a:ea typeface="Times New Roman" panose="02020603050405020304" pitchFamily="18" charset="0"/>
              </a:rPr>
              <a:t>Biblioteques Públiques</a:t>
            </a:r>
            <a:r>
              <a:rPr lang="ca-ES" sz="1800" dirty="0">
                <a:solidFill>
                  <a:schemeClr val="tx1">
                    <a:lumMod val="65000"/>
                    <a:lumOff val="35000"/>
                  </a:schemeClr>
                </a:solidFill>
                <a:effectLst/>
                <a:latin typeface="Calibri" panose="020F0502020204030204" pitchFamily="34" charset="0"/>
                <a:ea typeface="Times New Roman" panose="02020603050405020304" pitchFamily="18" charset="0"/>
              </a:rPr>
              <a:t> </a:t>
            </a:r>
            <a:endParaRPr lang="en-US" sz="1800" dirty="0">
              <a:solidFill>
                <a:schemeClr val="tx1">
                  <a:lumMod val="65000"/>
                  <a:lumOff val="35000"/>
                </a:schemeClr>
              </a:solidFill>
              <a:effectLst/>
              <a:latin typeface="Arial" panose="020B0604020202020204" pitchFamily="34" charset="0"/>
              <a:ea typeface="Arial" panose="020B0604020202020204" pitchFamily="34" charset="0"/>
            </a:endParaRPr>
          </a:p>
          <a:p>
            <a:pPr marL="342900" marR="0" lvl="0" indent="-342900" algn="l">
              <a:lnSpc>
                <a:spcPct val="115000"/>
              </a:lnSpc>
              <a:spcBef>
                <a:spcPts val="0"/>
              </a:spcBef>
              <a:spcAft>
                <a:spcPts val="0"/>
              </a:spcAft>
              <a:buFont typeface="Symbol" panose="05050102010706020507" pitchFamily="18" charset="2"/>
              <a:buChar char=""/>
            </a:pPr>
            <a:r>
              <a:rPr lang="ca-ES" sz="1800" b="1" dirty="0">
                <a:solidFill>
                  <a:schemeClr val="tx1">
                    <a:lumMod val="65000"/>
                    <a:lumOff val="35000"/>
                  </a:schemeClr>
                </a:solidFill>
                <a:effectLst/>
                <a:latin typeface="Calibri" panose="020F0502020204030204" pitchFamily="34" charset="0"/>
                <a:ea typeface="Times New Roman" panose="02020603050405020304" pitchFamily="18" charset="0"/>
              </a:rPr>
              <a:t>Plataformes de Compra en línia (Ex. </a:t>
            </a:r>
            <a:r>
              <a:rPr lang="ca-ES" sz="1800" b="1" dirty="0" err="1">
                <a:solidFill>
                  <a:schemeClr val="tx1">
                    <a:lumMod val="65000"/>
                    <a:lumOff val="35000"/>
                  </a:schemeClr>
                </a:solidFill>
                <a:effectLst/>
                <a:latin typeface="Calibri" panose="020F0502020204030204" pitchFamily="34" charset="0"/>
                <a:ea typeface="Times New Roman" panose="02020603050405020304" pitchFamily="18" charset="0"/>
              </a:rPr>
              <a:t>Amazon</a:t>
            </a:r>
            <a:r>
              <a:rPr lang="ca-ES" sz="1800" b="1" dirty="0">
                <a:solidFill>
                  <a:schemeClr val="tx1">
                    <a:lumMod val="65000"/>
                    <a:lumOff val="35000"/>
                  </a:schemeClr>
                </a:solidFill>
                <a:effectLst/>
                <a:latin typeface="Calibri" panose="020F0502020204030204" pitchFamily="34" charset="0"/>
                <a:ea typeface="Times New Roman" panose="02020603050405020304" pitchFamily="18" charset="0"/>
              </a:rPr>
              <a:t> o </a:t>
            </a:r>
            <a:r>
              <a:rPr lang="ca-ES" sz="1800" b="1" dirty="0" err="1">
                <a:solidFill>
                  <a:schemeClr val="tx1">
                    <a:lumMod val="65000"/>
                    <a:lumOff val="35000"/>
                  </a:schemeClr>
                </a:solidFill>
                <a:effectLst/>
                <a:latin typeface="Calibri" panose="020F0502020204030204" pitchFamily="34" charset="0"/>
                <a:ea typeface="Times New Roman" panose="02020603050405020304" pitchFamily="18" charset="0"/>
              </a:rPr>
              <a:t>Ebay</a:t>
            </a:r>
            <a:r>
              <a:rPr lang="ca-ES" sz="1800" b="1" dirty="0">
                <a:solidFill>
                  <a:schemeClr val="tx1">
                    <a:lumMod val="65000"/>
                    <a:lumOff val="35000"/>
                  </a:schemeClr>
                </a:solidFill>
                <a:effectLst/>
                <a:latin typeface="Calibri" panose="020F0502020204030204" pitchFamily="34" charset="0"/>
                <a:ea typeface="Times New Roman" panose="02020603050405020304" pitchFamily="18" charset="0"/>
              </a:rPr>
              <a:t>)</a:t>
            </a:r>
            <a:endParaRPr lang="ca-ES" dirty="0">
              <a:solidFill>
                <a:schemeClr val="tx1">
                  <a:lumMod val="65000"/>
                  <a:lumOff val="35000"/>
                </a:schemeClr>
              </a:solidFill>
            </a:endParaRPr>
          </a:p>
          <a:p>
            <a:pPr marL="0" lvl="0" indent="0" algn="l" rtl="0">
              <a:spcBef>
                <a:spcPts val="0"/>
              </a:spcBef>
              <a:spcAft>
                <a:spcPts val="0"/>
              </a:spcAft>
              <a:buNone/>
            </a:pPr>
            <a:endParaRPr lang="ca-ES" dirty="0"/>
          </a:p>
        </p:txBody>
      </p:sp>
    </p:spTree>
    <p:extLst>
      <p:ext uri="{BB962C8B-B14F-4D97-AF65-F5344CB8AC3E}">
        <p14:creationId xmlns:p14="http://schemas.microsoft.com/office/powerpoint/2010/main" val="3296171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solidFill>
                  <a:srgbClr val="7B9B71"/>
                </a:solidFill>
              </a:rPr>
              <a:t>Forces competitives de Porter (1982):</a:t>
            </a:r>
          </a:p>
        </p:txBody>
      </p:sp>
      <p:sp>
        <p:nvSpPr>
          <p:cNvPr id="622" name="Google Shape;622;p73"/>
          <p:cNvSpPr txBox="1">
            <a:spLocks noGrp="1"/>
          </p:cNvSpPr>
          <p:nvPr>
            <p:ph type="subTitle" idx="3"/>
          </p:nvPr>
        </p:nvSpPr>
        <p:spPr>
          <a:xfrm>
            <a:off x="1036320" y="1472026"/>
            <a:ext cx="671779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Poder de negociació dels proveïdors: Nivell mitjà.</a:t>
            </a:r>
          </a:p>
        </p:txBody>
      </p:sp>
      <p:sp>
        <p:nvSpPr>
          <p:cNvPr id="623" name="Google Shape;623;p73"/>
          <p:cNvSpPr txBox="1">
            <a:spLocks noGrp="1"/>
          </p:cNvSpPr>
          <p:nvPr>
            <p:ph type="subTitle" idx="4"/>
          </p:nvPr>
        </p:nvSpPr>
        <p:spPr>
          <a:xfrm>
            <a:off x="1036320" y="2052574"/>
            <a:ext cx="5928691" cy="237312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b="0" i="0" dirty="0">
                <a:solidFill>
                  <a:srgbClr val="000000"/>
                </a:solidFill>
                <a:effectLst/>
                <a:latin typeface="Open Sans" panose="020B0606030504020204" pitchFamily="34" charset="0"/>
              </a:rPr>
              <a:t>Encara que hi ha factors que equilibren el poder de negociació, com la diversitat de proveïdors i la capacitat per a establir condicions contractuals favorables, la presència de grans editorials i l'especialització d'uns certs productes podrien augmentar el poder dels proveïdors en certa manera. Per això, es classifica el poder de negociació dels proveïdors en un nivell intermedi.</a:t>
            </a:r>
            <a:endParaRPr lang="ca-ES" dirty="0"/>
          </a:p>
        </p:txBody>
      </p:sp>
    </p:spTree>
    <p:extLst>
      <p:ext uri="{BB962C8B-B14F-4D97-AF65-F5344CB8AC3E}">
        <p14:creationId xmlns:p14="http://schemas.microsoft.com/office/powerpoint/2010/main" val="2608653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445025"/>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solidFill>
                  <a:srgbClr val="7B9B71"/>
                </a:solidFill>
              </a:rPr>
              <a:t>Forces competitives de Porter (1982):</a:t>
            </a:r>
          </a:p>
        </p:txBody>
      </p:sp>
      <p:sp>
        <p:nvSpPr>
          <p:cNvPr id="622" name="Google Shape;622;p73"/>
          <p:cNvSpPr txBox="1">
            <a:spLocks noGrp="1"/>
          </p:cNvSpPr>
          <p:nvPr>
            <p:ph type="subTitle" idx="3"/>
          </p:nvPr>
        </p:nvSpPr>
        <p:spPr>
          <a:xfrm>
            <a:off x="1036320" y="1472026"/>
            <a:ext cx="726643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Poder de negociació dels compradors: Nivell alt.</a:t>
            </a:r>
          </a:p>
        </p:txBody>
      </p:sp>
      <p:sp>
        <p:nvSpPr>
          <p:cNvPr id="623" name="Google Shape;623;p73"/>
          <p:cNvSpPr txBox="1">
            <a:spLocks noGrp="1"/>
          </p:cNvSpPr>
          <p:nvPr>
            <p:ph type="subTitle" idx="4"/>
          </p:nvPr>
        </p:nvSpPr>
        <p:spPr>
          <a:xfrm>
            <a:off x="1036320" y="2052574"/>
            <a:ext cx="6638544" cy="237312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b="0" i="0" dirty="0">
                <a:solidFill>
                  <a:srgbClr val="000000"/>
                </a:solidFill>
                <a:effectLst/>
                <a:latin typeface="Open Sans" panose="020B0606030504020204" pitchFamily="34" charset="0"/>
              </a:rPr>
              <a:t>Com els ODS són una iniciativa actualment impulsada pel govern considerem on ens estem diferenciant actualment, considerem que existeix una creixent oportunitat de trobar clients que busquin empreses compromeses amb temes com el medi ambient o els ODS. No obstant això el que ens ha fet catalogar-lo com nivell mitjà ha estat que tenim un nivell alt de productes substituts i un nivell alt de competidors.</a:t>
            </a:r>
            <a:endParaRPr lang="ca-ES" dirty="0"/>
          </a:p>
        </p:txBody>
      </p:sp>
    </p:spTree>
    <p:extLst>
      <p:ext uri="{BB962C8B-B14F-4D97-AF65-F5344CB8AC3E}">
        <p14:creationId xmlns:p14="http://schemas.microsoft.com/office/powerpoint/2010/main" val="2980114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359681"/>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solidFill>
                  <a:srgbClr val="7B9B71"/>
                </a:solidFill>
              </a:rPr>
              <a:t>PESTEL</a:t>
            </a:r>
          </a:p>
        </p:txBody>
      </p:sp>
      <p:sp>
        <p:nvSpPr>
          <p:cNvPr id="622" name="Google Shape;622;p73"/>
          <p:cNvSpPr txBox="1">
            <a:spLocks noGrp="1"/>
          </p:cNvSpPr>
          <p:nvPr>
            <p:ph type="subTitle" idx="3"/>
          </p:nvPr>
        </p:nvSpPr>
        <p:spPr>
          <a:xfrm>
            <a:off x="1036320" y="1118458"/>
            <a:ext cx="726643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Dimensió Política</a:t>
            </a:r>
          </a:p>
        </p:txBody>
      </p:sp>
      <p:sp>
        <p:nvSpPr>
          <p:cNvPr id="623" name="Google Shape;623;p73"/>
          <p:cNvSpPr txBox="1">
            <a:spLocks noGrp="1"/>
          </p:cNvSpPr>
          <p:nvPr>
            <p:ph type="subTitle" idx="4"/>
          </p:nvPr>
        </p:nvSpPr>
        <p:spPr>
          <a:xfrm>
            <a:off x="1036320" y="1583182"/>
            <a:ext cx="6638544" cy="1263650"/>
          </a:xfrm>
          <a:prstGeom prst="rect">
            <a:avLst/>
          </a:prstGeom>
        </p:spPr>
        <p:txBody>
          <a:bodyPr spcFirstLastPara="1" wrap="square" lIns="91425" tIns="91425" rIns="91425" bIns="91425" anchor="t" anchorCtr="0">
            <a:noAutofit/>
          </a:bodyPr>
          <a:lstStyle/>
          <a:p>
            <a:pPr marL="114300" indent="0" algn="l"/>
            <a:r>
              <a:rPr lang="ca-ES" sz="1200" b="1" i="0" dirty="0">
                <a:solidFill>
                  <a:srgbClr val="000000"/>
                </a:solidFill>
                <a:effectLst/>
                <a:latin typeface="Open Sans" panose="020B0606030504020204" pitchFamily="34" charset="0"/>
              </a:rPr>
              <a:t>Riscos: </a:t>
            </a:r>
            <a:r>
              <a:rPr lang="ca-ES" sz="1200" b="0" i="0" dirty="0">
                <a:solidFill>
                  <a:srgbClr val="000000"/>
                </a:solidFill>
                <a:effectLst/>
                <a:latin typeface="Open Sans" panose="020B0606030504020204" pitchFamily="34" charset="0"/>
              </a:rPr>
              <a:t>Possibles canvis en la legislació després de les eleccions.</a:t>
            </a:r>
          </a:p>
          <a:p>
            <a:pPr algn="l">
              <a:buFont typeface="Arial" panose="020B0604020202020204" pitchFamily="34" charset="0"/>
              <a:buChar char="•"/>
            </a:pPr>
            <a:endParaRPr lang="ca-ES" sz="1200" b="0" i="0" dirty="0">
              <a:solidFill>
                <a:srgbClr val="000000"/>
              </a:solidFill>
              <a:effectLst/>
              <a:latin typeface="Open Sans" panose="020B0606030504020204" pitchFamily="34" charset="0"/>
            </a:endParaRPr>
          </a:p>
          <a:p>
            <a:pPr marL="114300" indent="0" algn="l"/>
            <a:r>
              <a:rPr lang="ca-ES" sz="1200" b="1" i="0" dirty="0">
                <a:solidFill>
                  <a:srgbClr val="000000"/>
                </a:solidFill>
                <a:effectLst/>
                <a:latin typeface="Open Sans" panose="020B0606030504020204" pitchFamily="34" charset="0"/>
              </a:rPr>
              <a:t>Oportunitats: </a:t>
            </a:r>
            <a:r>
              <a:rPr lang="ca-ES" sz="1200" b="0" i="0" dirty="0">
                <a:solidFill>
                  <a:srgbClr val="000000"/>
                </a:solidFill>
                <a:effectLst/>
                <a:latin typeface="Open Sans" panose="020B0606030504020204" pitchFamily="34" charset="0"/>
              </a:rPr>
              <a:t>Podem aprofitar els programes i ajuts impulsats pel govern per empreses PIMES de nova creació. Màxim del 10% d'impost de societats sobre els beneficis a Andorra. (Política fiscal)</a:t>
            </a:r>
          </a:p>
        </p:txBody>
      </p:sp>
      <p:sp>
        <p:nvSpPr>
          <p:cNvPr id="2" name="Google Shape;622;p73">
            <a:extLst>
              <a:ext uri="{FF2B5EF4-FFF2-40B4-BE49-F238E27FC236}">
                <a16:creationId xmlns:a16="http://schemas.microsoft.com/office/drawing/2014/main" id="{DFEE502A-394F-6044-1FFD-6B6B8624E4DF}"/>
              </a:ext>
            </a:extLst>
          </p:cNvPr>
          <p:cNvSpPr txBox="1">
            <a:spLocks/>
          </p:cNvSpPr>
          <p:nvPr/>
        </p:nvSpPr>
        <p:spPr>
          <a:xfrm>
            <a:off x="1011936" y="2739994"/>
            <a:ext cx="7266432" cy="501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400"/>
              <a:buFont typeface="Vidaloka"/>
              <a:buNone/>
              <a:defRPr sz="2400" b="0" i="0" u="none" strike="noStrike" cap="none">
                <a:solidFill>
                  <a:schemeClr val="accent1"/>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2pPr>
            <a:lvl3pPr marL="1371600" marR="0" lvl="2"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3pPr>
            <a:lvl4pPr marL="1828800" marR="0" lvl="3"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4pPr>
            <a:lvl5pPr marL="2286000" marR="0" lvl="4"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5pPr>
            <a:lvl6pPr marL="2743200" marR="0" lvl="5"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6pPr>
            <a:lvl7pPr marL="3200400" marR="0" lvl="6"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7pPr>
            <a:lvl8pPr marL="3657600" marR="0" lvl="7"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8pPr>
            <a:lvl9pPr marL="4114800" marR="0" lvl="8"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9pPr>
          </a:lstStyle>
          <a:p>
            <a:pPr marL="0" indent="0" algn="l"/>
            <a:r>
              <a:rPr lang="ca-ES" dirty="0"/>
              <a:t>Dimensió Econòmica</a:t>
            </a:r>
          </a:p>
        </p:txBody>
      </p:sp>
      <p:sp>
        <p:nvSpPr>
          <p:cNvPr id="3" name="Google Shape;623;p73">
            <a:extLst>
              <a:ext uri="{FF2B5EF4-FFF2-40B4-BE49-F238E27FC236}">
                <a16:creationId xmlns:a16="http://schemas.microsoft.com/office/drawing/2014/main" id="{4A2A61F4-59D9-DAB2-9877-F2922606B289}"/>
              </a:ext>
            </a:extLst>
          </p:cNvPr>
          <p:cNvSpPr txBox="1">
            <a:spLocks/>
          </p:cNvSpPr>
          <p:nvPr/>
        </p:nvSpPr>
        <p:spPr>
          <a:xfrm>
            <a:off x="1011936" y="3204718"/>
            <a:ext cx="6638544" cy="12636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114300" indent="0" algn="l"/>
            <a:r>
              <a:rPr lang="ca-ES" sz="1200" b="1" i="0" dirty="0">
                <a:solidFill>
                  <a:srgbClr val="000000"/>
                </a:solidFill>
                <a:effectLst/>
                <a:latin typeface="Open Sans" panose="020B0606030504020204" pitchFamily="34" charset="0"/>
              </a:rPr>
              <a:t>Riscos: </a:t>
            </a:r>
            <a:r>
              <a:rPr lang="ca-ES" sz="1200" b="0" i="0" dirty="0">
                <a:solidFill>
                  <a:srgbClr val="000000"/>
                </a:solidFill>
                <a:effectLst/>
                <a:latin typeface="Open Sans" panose="020B0606030504020204" pitchFamily="34" charset="0"/>
              </a:rPr>
              <a:t>Alta inestabilitat econòmica a causa de la passada crisi energètica i sanitària. Inflació desmesurada. Incertesa.</a:t>
            </a:r>
          </a:p>
          <a:p>
            <a:pPr marL="114300" indent="0" algn="l"/>
            <a:endParaRPr lang="ca-ES" sz="1200" b="0" i="0" dirty="0">
              <a:solidFill>
                <a:srgbClr val="000000"/>
              </a:solidFill>
              <a:effectLst/>
              <a:latin typeface="Open Sans" panose="020B0606030504020204" pitchFamily="34" charset="0"/>
            </a:endParaRPr>
          </a:p>
          <a:p>
            <a:pPr marL="114300" indent="0" algn="l"/>
            <a:r>
              <a:rPr lang="ca-ES" sz="1200" b="1" i="0" dirty="0">
                <a:solidFill>
                  <a:srgbClr val="000000"/>
                </a:solidFill>
                <a:effectLst/>
                <a:latin typeface="Open Sans" panose="020B0606030504020204" pitchFamily="34" charset="0"/>
              </a:rPr>
              <a:t>Oportunitats: </a:t>
            </a:r>
            <a:r>
              <a:rPr lang="ca-ES" sz="1200" b="0" i="0" dirty="0">
                <a:solidFill>
                  <a:srgbClr val="000000"/>
                </a:solidFill>
                <a:effectLst/>
                <a:latin typeface="Open Sans" panose="020B0606030504020204" pitchFamily="34" charset="0"/>
              </a:rPr>
              <a:t>Si es dona el cas hem d'aprofitar tots els ajuts impulsats pel govern per a les PIMES</a:t>
            </a:r>
            <a:br>
              <a:rPr lang="en-US" sz="1200" dirty="0"/>
            </a:br>
            <a:br>
              <a:rPr lang="en-US" sz="1200" dirty="0"/>
            </a:br>
            <a:r>
              <a:rPr lang="en-US" sz="1200" b="0" i="0" dirty="0">
                <a:solidFill>
                  <a:schemeClr val="tx2">
                    <a:lumMod val="50000"/>
                  </a:schemeClr>
                </a:solidFill>
                <a:effectLst/>
                <a:latin typeface="Open Sans" panose="020B0606030504020204" pitchFamily="34" charset="0"/>
              </a:rPr>
              <a:t>https://www.andorrabusiness.com/creix-andorra/programa-empresarial/subvencions/subvencions-andorra-business-2022/</a:t>
            </a:r>
            <a:endParaRPr lang="ca-ES" sz="1200" b="0" i="0" dirty="0">
              <a:solidFill>
                <a:srgbClr val="000000"/>
              </a:solidFill>
              <a:effectLst/>
              <a:latin typeface="Open Sans" panose="020B0606030504020204" pitchFamily="34" charset="0"/>
            </a:endParaRPr>
          </a:p>
          <a:p>
            <a:pPr marL="114300" indent="0" algn="l"/>
            <a:br>
              <a:rPr lang="ca-ES" sz="1200" dirty="0"/>
            </a:br>
            <a:br>
              <a:rPr lang="en-US" dirty="0"/>
            </a:br>
            <a:endParaRPr lang="ca-ES" dirty="0">
              <a:solidFill>
                <a:srgbClr val="000000"/>
              </a:solidFill>
              <a:latin typeface="Open Sans" panose="020B0606030504020204" pitchFamily="34" charset="0"/>
            </a:endParaRPr>
          </a:p>
        </p:txBody>
      </p:sp>
    </p:spTree>
    <p:extLst>
      <p:ext uri="{BB962C8B-B14F-4D97-AF65-F5344CB8AC3E}">
        <p14:creationId xmlns:p14="http://schemas.microsoft.com/office/powerpoint/2010/main" val="3556533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80"/>
        <p:cNvGrpSpPr/>
        <p:nvPr/>
      </p:nvGrpSpPr>
      <p:grpSpPr>
        <a:xfrm>
          <a:off x="0" y="0"/>
          <a:ext cx="0" cy="0"/>
          <a:chOff x="0" y="0"/>
          <a:chExt cx="0" cy="0"/>
        </a:xfrm>
      </p:grpSpPr>
      <p:grpSp>
        <p:nvGrpSpPr>
          <p:cNvPr id="1483" name="Google Shape;1483;p115"/>
          <p:cNvGrpSpPr/>
          <p:nvPr/>
        </p:nvGrpSpPr>
        <p:grpSpPr>
          <a:xfrm>
            <a:off x="5205650" y="1369751"/>
            <a:ext cx="3017896" cy="2531353"/>
            <a:chOff x="649171" y="238145"/>
            <a:chExt cx="6249525" cy="5241981"/>
          </a:xfrm>
        </p:grpSpPr>
        <p:sp>
          <p:nvSpPr>
            <p:cNvPr id="1484" name="Google Shape;1484;p115"/>
            <p:cNvSpPr/>
            <p:nvPr/>
          </p:nvSpPr>
          <p:spPr>
            <a:xfrm>
              <a:off x="2850275" y="4515119"/>
              <a:ext cx="1849000" cy="810050"/>
            </a:xfrm>
            <a:custGeom>
              <a:avLst/>
              <a:gdLst/>
              <a:ahLst/>
              <a:cxnLst/>
              <a:rect l="l" t="t" r="r" b="b"/>
              <a:pathLst>
                <a:path w="73960" h="32402" extrusionOk="0">
                  <a:moveTo>
                    <a:pt x="7960" y="1"/>
                  </a:moveTo>
                  <a:cubicBezTo>
                    <a:pt x="5284" y="10848"/>
                    <a:pt x="2607" y="21625"/>
                    <a:pt x="1" y="32402"/>
                  </a:cubicBezTo>
                  <a:lnTo>
                    <a:pt x="73960" y="32402"/>
                  </a:lnTo>
                  <a:lnTo>
                    <a:pt x="66071" y="1"/>
                  </a:lnTo>
                  <a:close/>
                </a:path>
              </a:pathLst>
            </a:cu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5" name="Google Shape;1485;p115"/>
            <p:cNvSpPr/>
            <p:nvPr/>
          </p:nvSpPr>
          <p:spPr>
            <a:xfrm>
              <a:off x="2638975" y="5325151"/>
              <a:ext cx="2269850" cy="154975"/>
            </a:xfrm>
            <a:custGeom>
              <a:avLst/>
              <a:gdLst/>
              <a:ahLst/>
              <a:cxnLst/>
              <a:rect l="l" t="t" r="r" b="b"/>
              <a:pathLst>
                <a:path w="90794" h="6199" extrusionOk="0">
                  <a:moveTo>
                    <a:pt x="3875" y="0"/>
                  </a:moveTo>
                  <a:cubicBezTo>
                    <a:pt x="1761" y="0"/>
                    <a:pt x="1" y="2043"/>
                    <a:pt x="1" y="4508"/>
                  </a:cubicBezTo>
                  <a:lnTo>
                    <a:pt x="1" y="6199"/>
                  </a:lnTo>
                  <a:lnTo>
                    <a:pt x="90794" y="6199"/>
                  </a:lnTo>
                  <a:lnTo>
                    <a:pt x="90794" y="4508"/>
                  </a:lnTo>
                  <a:cubicBezTo>
                    <a:pt x="90794" y="2043"/>
                    <a:pt x="89103" y="0"/>
                    <a:pt x="86990" y="0"/>
                  </a:cubicBezTo>
                  <a:close/>
                </a:path>
              </a:pathLst>
            </a:cu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6" name="Google Shape;1486;p115"/>
            <p:cNvSpPr/>
            <p:nvPr/>
          </p:nvSpPr>
          <p:spPr>
            <a:xfrm>
              <a:off x="649171" y="238145"/>
              <a:ext cx="6249525" cy="4250923"/>
            </a:xfrm>
            <a:custGeom>
              <a:avLst/>
              <a:gdLst/>
              <a:ahLst/>
              <a:cxnLst/>
              <a:rect l="l" t="t" r="r" b="b"/>
              <a:pathLst>
                <a:path w="249981" h="157427" extrusionOk="0">
                  <a:moveTo>
                    <a:pt x="6198" y="0"/>
                  </a:moveTo>
                  <a:cubicBezTo>
                    <a:pt x="2817" y="0"/>
                    <a:pt x="0" y="2817"/>
                    <a:pt x="0" y="6198"/>
                  </a:cubicBezTo>
                  <a:lnTo>
                    <a:pt x="0" y="157427"/>
                  </a:lnTo>
                  <a:lnTo>
                    <a:pt x="249980" y="157427"/>
                  </a:lnTo>
                  <a:lnTo>
                    <a:pt x="249980" y="6198"/>
                  </a:lnTo>
                  <a:cubicBezTo>
                    <a:pt x="249980" y="2817"/>
                    <a:pt x="247233" y="0"/>
                    <a:pt x="243782" y="0"/>
                  </a:cubicBezTo>
                  <a:close/>
                </a:path>
              </a:pathLst>
            </a:cu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7" name="Google Shape;1487;p115"/>
            <p:cNvSpPr/>
            <p:nvPr/>
          </p:nvSpPr>
          <p:spPr>
            <a:xfrm>
              <a:off x="904475" y="481125"/>
              <a:ext cx="5738850" cy="3435575"/>
            </a:xfrm>
            <a:custGeom>
              <a:avLst/>
              <a:gdLst/>
              <a:ahLst/>
              <a:cxnLst/>
              <a:rect l="l" t="t" r="r" b="b"/>
              <a:pathLst>
                <a:path w="229554" h="137423" extrusionOk="0">
                  <a:moveTo>
                    <a:pt x="0" y="0"/>
                  </a:moveTo>
                  <a:lnTo>
                    <a:pt x="0" y="137423"/>
                  </a:lnTo>
                  <a:lnTo>
                    <a:pt x="229554" y="137423"/>
                  </a:lnTo>
                  <a:lnTo>
                    <a:pt x="229554" y="0"/>
                  </a:lnTo>
                  <a:close/>
                </a:path>
              </a:pathLst>
            </a:custGeom>
            <a:solidFill>
              <a:schemeClr val="accent1"/>
            </a:solid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 name="Google Shape;619;p73">
            <a:extLst>
              <a:ext uri="{FF2B5EF4-FFF2-40B4-BE49-F238E27FC236}">
                <a16:creationId xmlns:a16="http://schemas.microsoft.com/office/drawing/2014/main" id="{761F59E4-63E9-1C68-2900-67D9DB5F75C2}"/>
              </a:ext>
            </a:extLst>
          </p:cNvPr>
          <p:cNvSpPr txBox="1">
            <a:spLocks/>
          </p:cNvSpPr>
          <p:nvPr/>
        </p:nvSpPr>
        <p:spPr>
          <a:xfrm>
            <a:off x="727740" y="610865"/>
            <a:ext cx="6327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9pPr>
          </a:lstStyle>
          <a:p>
            <a:pPr>
              <a:buSzPts val="1100"/>
            </a:pPr>
            <a:r>
              <a:rPr lang="ca-ES" dirty="0">
                <a:solidFill>
                  <a:srgbClr val="7B9B71"/>
                </a:solidFill>
              </a:rPr>
              <a:t>PESTEL</a:t>
            </a:r>
          </a:p>
        </p:txBody>
      </p:sp>
      <p:sp>
        <p:nvSpPr>
          <p:cNvPr id="8" name="Google Shape;623;p73">
            <a:extLst>
              <a:ext uri="{FF2B5EF4-FFF2-40B4-BE49-F238E27FC236}">
                <a16:creationId xmlns:a16="http://schemas.microsoft.com/office/drawing/2014/main" id="{42058633-1FE2-0BCC-8990-4896024764E0}"/>
              </a:ext>
            </a:extLst>
          </p:cNvPr>
          <p:cNvSpPr txBox="1">
            <a:spLocks/>
          </p:cNvSpPr>
          <p:nvPr/>
        </p:nvSpPr>
        <p:spPr>
          <a:xfrm>
            <a:off x="640080" y="2158573"/>
            <a:ext cx="4285488" cy="126365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r>
              <a:rPr lang="ca-ES" sz="1200" b="1" dirty="0">
                <a:latin typeface="Open Sans" panose="020B0606030504020204" pitchFamily="34" charset="0"/>
              </a:rPr>
              <a:t>Riscos:</a:t>
            </a:r>
            <a:r>
              <a:rPr lang="ca-ES" sz="1200" dirty="0">
                <a:latin typeface="Open Sans" panose="020B0606030504020204" pitchFamily="34" charset="0"/>
              </a:rPr>
              <a:t> Alta presència de webs. Usuaris cada vegada millor informats.</a:t>
            </a:r>
          </a:p>
          <a:p>
            <a:pPr marL="114300"/>
            <a:endParaRPr lang="ca-ES" sz="1200" dirty="0">
              <a:latin typeface="Open Sans" panose="020B0606030504020204" pitchFamily="34" charset="0"/>
            </a:endParaRPr>
          </a:p>
          <a:p>
            <a:pPr marL="114300"/>
            <a:r>
              <a:rPr lang="ca-ES" sz="1200" b="1" dirty="0">
                <a:latin typeface="Open Sans" panose="020B0606030504020204" pitchFamily="34" charset="0"/>
              </a:rPr>
              <a:t>Oportunitats: </a:t>
            </a:r>
            <a:r>
              <a:rPr lang="ca-ES" sz="1200" dirty="0">
                <a:latin typeface="Open Sans" panose="020B0606030504020204" pitchFamily="34" charset="0"/>
              </a:rPr>
              <a:t>Podem aprofitar per crear la nostra web i poder arribar a una major quantitat d'usuaris oferint un servei innovador i d'alta qualitat.</a:t>
            </a:r>
          </a:p>
        </p:txBody>
      </p:sp>
      <p:sp>
        <p:nvSpPr>
          <p:cNvPr id="9" name="Google Shape;622;p73">
            <a:extLst>
              <a:ext uri="{FF2B5EF4-FFF2-40B4-BE49-F238E27FC236}">
                <a16:creationId xmlns:a16="http://schemas.microsoft.com/office/drawing/2014/main" id="{2E8B9282-95FC-3C55-C99C-D7E0C4E5069E}"/>
              </a:ext>
            </a:extLst>
          </p:cNvPr>
          <p:cNvSpPr txBox="1">
            <a:spLocks/>
          </p:cNvSpPr>
          <p:nvPr/>
        </p:nvSpPr>
        <p:spPr>
          <a:xfrm>
            <a:off x="640080" y="1657273"/>
            <a:ext cx="3891637" cy="501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400"/>
              <a:buFont typeface="Vidaloka"/>
              <a:buNone/>
              <a:defRPr sz="2400" b="0" i="0" u="none" strike="noStrike" cap="none">
                <a:solidFill>
                  <a:schemeClr val="accent1"/>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2pPr>
            <a:lvl3pPr marL="1371600" marR="0" lvl="2"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3pPr>
            <a:lvl4pPr marL="1828800" marR="0" lvl="3"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4pPr>
            <a:lvl5pPr marL="2286000" marR="0" lvl="4"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5pPr>
            <a:lvl6pPr marL="2743200" marR="0" lvl="5"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6pPr>
            <a:lvl7pPr marL="3200400" marR="0" lvl="6"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7pPr>
            <a:lvl8pPr marL="3657600" marR="0" lvl="7"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8pPr>
            <a:lvl9pPr marL="4114800" marR="0" lvl="8"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9pPr>
          </a:lstStyle>
          <a:p>
            <a:pPr algn="l"/>
            <a:r>
              <a:rPr lang="ca-ES" dirty="0"/>
              <a:t>Dimensió Tecnològica</a:t>
            </a:r>
          </a:p>
        </p:txBody>
      </p:sp>
      <p:pic>
        <p:nvPicPr>
          <p:cNvPr id="13" name="Picture 12">
            <a:extLst>
              <a:ext uri="{FF2B5EF4-FFF2-40B4-BE49-F238E27FC236}">
                <a16:creationId xmlns:a16="http://schemas.microsoft.com/office/drawing/2014/main" id="{7ED55D1E-98C8-FCE1-AC2F-A1783961AB71}"/>
              </a:ext>
            </a:extLst>
          </p:cNvPr>
          <p:cNvPicPr>
            <a:picLocks noChangeAspect="1"/>
          </p:cNvPicPr>
          <p:nvPr/>
        </p:nvPicPr>
        <p:blipFill>
          <a:blip r:embed="rId3"/>
          <a:stretch>
            <a:fillRect/>
          </a:stretch>
        </p:blipFill>
        <p:spPr>
          <a:xfrm>
            <a:off x="5328936" y="1487086"/>
            <a:ext cx="2771291" cy="1668009"/>
          </a:xfrm>
          <a:prstGeom prst="rect">
            <a:avLst/>
          </a:prstGeom>
        </p:spPr>
      </p:pic>
    </p:spTree>
    <p:extLst>
      <p:ext uri="{BB962C8B-B14F-4D97-AF65-F5344CB8AC3E}">
        <p14:creationId xmlns:p14="http://schemas.microsoft.com/office/powerpoint/2010/main" val="3639423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359681"/>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solidFill>
                  <a:srgbClr val="7B9B71"/>
                </a:solidFill>
              </a:rPr>
              <a:t>PESTEL</a:t>
            </a:r>
          </a:p>
        </p:txBody>
      </p:sp>
      <p:sp>
        <p:nvSpPr>
          <p:cNvPr id="622" name="Google Shape;622;p73"/>
          <p:cNvSpPr txBox="1">
            <a:spLocks noGrp="1"/>
          </p:cNvSpPr>
          <p:nvPr>
            <p:ph type="subTitle" idx="3"/>
          </p:nvPr>
        </p:nvSpPr>
        <p:spPr>
          <a:xfrm>
            <a:off x="1036320" y="2831434"/>
            <a:ext cx="7266432" cy="50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t>Dimensió Legal</a:t>
            </a:r>
          </a:p>
        </p:txBody>
      </p:sp>
      <p:sp>
        <p:nvSpPr>
          <p:cNvPr id="623" name="Google Shape;623;p73"/>
          <p:cNvSpPr txBox="1">
            <a:spLocks noGrp="1"/>
          </p:cNvSpPr>
          <p:nvPr>
            <p:ph type="subTitle" idx="4"/>
          </p:nvPr>
        </p:nvSpPr>
        <p:spPr>
          <a:xfrm>
            <a:off x="1036320" y="3296158"/>
            <a:ext cx="6638544" cy="1263650"/>
          </a:xfrm>
          <a:prstGeom prst="rect">
            <a:avLst/>
          </a:prstGeom>
        </p:spPr>
        <p:txBody>
          <a:bodyPr spcFirstLastPara="1" wrap="square" lIns="91425" tIns="91425" rIns="91425" bIns="91425" anchor="t" anchorCtr="0">
            <a:noAutofit/>
          </a:bodyPr>
          <a:lstStyle/>
          <a:p>
            <a:pPr marL="114300" indent="0" algn="l"/>
            <a:r>
              <a:rPr lang="ca-ES" sz="1200" b="1" i="0" dirty="0">
                <a:solidFill>
                  <a:srgbClr val="000000"/>
                </a:solidFill>
                <a:effectLst/>
                <a:latin typeface="Open Sans" panose="020B0606030504020204" pitchFamily="34" charset="0"/>
              </a:rPr>
              <a:t>Observacions</a:t>
            </a:r>
            <a:r>
              <a:rPr lang="ca-ES" sz="1200" i="0" dirty="0">
                <a:solidFill>
                  <a:srgbClr val="000000"/>
                </a:solidFill>
                <a:effectLst/>
                <a:latin typeface="Open Sans" panose="020B0606030504020204" pitchFamily="34" charset="0"/>
              </a:rPr>
              <a:t>: Hem de complir amb les regulacions laborals i tributàries, ja que el seu no compliment pot comportar multes</a:t>
            </a:r>
          </a:p>
        </p:txBody>
      </p:sp>
      <p:sp>
        <p:nvSpPr>
          <p:cNvPr id="3" name="Google Shape;623;p73">
            <a:extLst>
              <a:ext uri="{FF2B5EF4-FFF2-40B4-BE49-F238E27FC236}">
                <a16:creationId xmlns:a16="http://schemas.microsoft.com/office/drawing/2014/main" id="{4A2A61F4-59D9-DAB2-9877-F2922606B289}"/>
              </a:ext>
            </a:extLst>
          </p:cNvPr>
          <p:cNvSpPr txBox="1">
            <a:spLocks/>
          </p:cNvSpPr>
          <p:nvPr/>
        </p:nvSpPr>
        <p:spPr>
          <a:xfrm>
            <a:off x="1011936" y="3253486"/>
            <a:ext cx="6638544" cy="12636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114300" indent="0" algn="l"/>
            <a:br>
              <a:rPr lang="ca-ES" sz="1200" dirty="0"/>
            </a:br>
            <a:br>
              <a:rPr lang="en-US" dirty="0"/>
            </a:br>
            <a:endParaRPr lang="ca-ES" dirty="0">
              <a:solidFill>
                <a:srgbClr val="000000"/>
              </a:solidFill>
              <a:latin typeface="Open Sans" panose="020B0606030504020204" pitchFamily="34" charset="0"/>
            </a:endParaRPr>
          </a:p>
        </p:txBody>
      </p:sp>
      <p:sp>
        <p:nvSpPr>
          <p:cNvPr id="7" name="Google Shape;622;p73">
            <a:extLst>
              <a:ext uri="{FF2B5EF4-FFF2-40B4-BE49-F238E27FC236}">
                <a16:creationId xmlns:a16="http://schemas.microsoft.com/office/drawing/2014/main" id="{5DBEAC9E-AC73-69DA-A258-3FB615208231}"/>
              </a:ext>
            </a:extLst>
          </p:cNvPr>
          <p:cNvSpPr txBox="1">
            <a:spLocks/>
          </p:cNvSpPr>
          <p:nvPr/>
        </p:nvSpPr>
        <p:spPr>
          <a:xfrm>
            <a:off x="1054608" y="1033114"/>
            <a:ext cx="7266432" cy="501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400"/>
              <a:buFont typeface="Vidaloka"/>
              <a:buNone/>
              <a:defRPr sz="2400" b="0" i="0" u="none" strike="noStrike" cap="none">
                <a:solidFill>
                  <a:schemeClr val="accent1"/>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2pPr>
            <a:lvl3pPr marL="1371600" marR="0" lvl="2"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3pPr>
            <a:lvl4pPr marL="1828800" marR="0" lvl="3"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4pPr>
            <a:lvl5pPr marL="2286000" marR="0" lvl="4"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5pPr>
            <a:lvl6pPr marL="2743200" marR="0" lvl="5"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6pPr>
            <a:lvl7pPr marL="3200400" marR="0" lvl="6"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7pPr>
            <a:lvl8pPr marL="3657600" marR="0" lvl="7"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8pPr>
            <a:lvl9pPr marL="4114800" marR="0" lvl="8" indent="-317500" algn="ctr" rtl="0">
              <a:lnSpc>
                <a:spcPct val="115000"/>
              </a:lnSpc>
              <a:spcBef>
                <a:spcPts val="0"/>
              </a:spcBef>
              <a:spcAft>
                <a:spcPts val="0"/>
              </a:spcAft>
              <a:buClr>
                <a:schemeClr val="dk2"/>
              </a:buClr>
              <a:buSzPts val="2400"/>
              <a:buFont typeface="Vidaloka"/>
              <a:buNone/>
              <a:defRPr sz="2400" b="1" i="0" u="none" strike="noStrike" cap="none">
                <a:solidFill>
                  <a:schemeClr val="dk2"/>
                </a:solidFill>
                <a:latin typeface="Vidaloka"/>
                <a:ea typeface="Vidaloka"/>
                <a:cs typeface="Vidaloka"/>
                <a:sym typeface="Vidaloka"/>
              </a:defRPr>
            </a:lvl9pPr>
          </a:lstStyle>
          <a:p>
            <a:pPr marL="0" indent="0" algn="l"/>
            <a:r>
              <a:rPr lang="ca-ES" dirty="0"/>
              <a:t>Dimensió Ecològica</a:t>
            </a:r>
          </a:p>
        </p:txBody>
      </p:sp>
      <p:sp>
        <p:nvSpPr>
          <p:cNvPr id="8" name="Google Shape;623;p73">
            <a:extLst>
              <a:ext uri="{FF2B5EF4-FFF2-40B4-BE49-F238E27FC236}">
                <a16:creationId xmlns:a16="http://schemas.microsoft.com/office/drawing/2014/main" id="{779900C8-504D-5CB6-3EC5-2C1973128D48}"/>
              </a:ext>
            </a:extLst>
          </p:cNvPr>
          <p:cNvSpPr txBox="1">
            <a:spLocks/>
          </p:cNvSpPr>
          <p:nvPr/>
        </p:nvSpPr>
        <p:spPr>
          <a:xfrm>
            <a:off x="1054608" y="1564894"/>
            <a:ext cx="6638544" cy="12636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114300" indent="0" algn="l"/>
            <a:r>
              <a:rPr lang="ca-ES" sz="1200" b="1" dirty="0"/>
              <a:t>Riscos: </a:t>
            </a:r>
            <a:r>
              <a:rPr lang="ca-ES" sz="1200" dirty="0"/>
              <a:t>Ús d'energies renovables. Comença a desenvolupar-se la consciència ecològica entre els ciutadans. Quan una empresa adopta o no mesures ecològiques és percebuda de forma diferent. Tendències de 0 plàstics.</a:t>
            </a:r>
          </a:p>
          <a:p>
            <a:pPr marL="114300" indent="0" algn="l"/>
            <a:endParaRPr lang="ca-ES" sz="1200" dirty="0"/>
          </a:p>
          <a:p>
            <a:pPr marL="114300" indent="0" algn="l"/>
            <a:r>
              <a:rPr lang="ca-ES" sz="1200" b="1" dirty="0"/>
              <a:t>Oportunitats: </a:t>
            </a:r>
            <a:r>
              <a:rPr lang="ca-ES" sz="1200" dirty="0"/>
              <a:t>Evitarem al màxim la generació de residus i aportarem valor aprofitant els ODS proposats per l'ONU.</a:t>
            </a:r>
            <a:br>
              <a:rPr lang="ca-ES" sz="1200" dirty="0"/>
            </a:br>
            <a:br>
              <a:rPr lang="en-US" dirty="0"/>
            </a:br>
            <a:endParaRPr lang="ca-ES" dirty="0">
              <a:solidFill>
                <a:srgbClr val="000000"/>
              </a:solidFill>
              <a:latin typeface="Open Sans" panose="020B0606030504020204" pitchFamily="34" charset="0"/>
            </a:endParaRPr>
          </a:p>
        </p:txBody>
      </p:sp>
      <p:grpSp>
        <p:nvGrpSpPr>
          <p:cNvPr id="9" name="Google Shape;1854;p125">
            <a:extLst>
              <a:ext uri="{FF2B5EF4-FFF2-40B4-BE49-F238E27FC236}">
                <a16:creationId xmlns:a16="http://schemas.microsoft.com/office/drawing/2014/main" id="{C478AA92-DA9E-1944-C00F-E5343580079C}"/>
              </a:ext>
            </a:extLst>
          </p:cNvPr>
          <p:cNvGrpSpPr/>
          <p:nvPr/>
        </p:nvGrpSpPr>
        <p:grpSpPr>
          <a:xfrm>
            <a:off x="7295241" y="932381"/>
            <a:ext cx="1330599" cy="1254629"/>
            <a:chOff x="5381400" y="2809980"/>
            <a:chExt cx="1623330" cy="1462687"/>
          </a:xfrm>
        </p:grpSpPr>
        <p:sp>
          <p:nvSpPr>
            <p:cNvPr id="10" name="Google Shape;1855;p125">
              <a:extLst>
                <a:ext uri="{FF2B5EF4-FFF2-40B4-BE49-F238E27FC236}">
                  <a16:creationId xmlns:a16="http://schemas.microsoft.com/office/drawing/2014/main" id="{0690947E-8E87-441A-3DE9-15FFED6E5224}"/>
                </a:ext>
              </a:extLst>
            </p:cNvPr>
            <p:cNvSpPr/>
            <p:nvPr/>
          </p:nvSpPr>
          <p:spPr>
            <a:xfrm>
              <a:off x="5381400" y="2809980"/>
              <a:ext cx="795055" cy="711131"/>
            </a:xfrm>
            <a:custGeom>
              <a:avLst/>
              <a:gdLst/>
              <a:ahLst/>
              <a:cxnLst/>
              <a:rect l="l" t="t" r="r" b="b"/>
              <a:pathLst>
                <a:path w="15006" h="13422" extrusionOk="0">
                  <a:moveTo>
                    <a:pt x="1" y="0"/>
                  </a:moveTo>
                  <a:lnTo>
                    <a:pt x="1" y="4738"/>
                  </a:lnTo>
                  <a:cubicBezTo>
                    <a:pt x="1" y="9530"/>
                    <a:pt x="3892" y="13421"/>
                    <a:pt x="8684" y="13421"/>
                  </a:cubicBezTo>
                  <a:lnTo>
                    <a:pt x="15006" y="13421"/>
                  </a:lnTo>
                  <a:lnTo>
                    <a:pt x="15006" y="8670"/>
                  </a:lnTo>
                  <a:cubicBezTo>
                    <a:pt x="15006" y="3878"/>
                    <a:pt x="11115" y="0"/>
                    <a:pt x="6336" y="0"/>
                  </a:cubicBezTo>
                  <a:close/>
                </a:path>
              </a:pathLst>
            </a:cu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856;p125">
              <a:extLst>
                <a:ext uri="{FF2B5EF4-FFF2-40B4-BE49-F238E27FC236}">
                  <a16:creationId xmlns:a16="http://schemas.microsoft.com/office/drawing/2014/main" id="{814337C3-F651-C142-30FE-F3FD1ED7408D}"/>
                </a:ext>
              </a:extLst>
            </p:cNvPr>
            <p:cNvSpPr/>
            <p:nvPr/>
          </p:nvSpPr>
          <p:spPr>
            <a:xfrm>
              <a:off x="6209674" y="2809980"/>
              <a:ext cx="795055" cy="711131"/>
            </a:xfrm>
            <a:custGeom>
              <a:avLst/>
              <a:gdLst/>
              <a:ahLst/>
              <a:cxnLst/>
              <a:rect l="l" t="t" r="r" b="b"/>
              <a:pathLst>
                <a:path w="15006" h="13422" extrusionOk="0">
                  <a:moveTo>
                    <a:pt x="8671" y="0"/>
                  </a:moveTo>
                  <a:cubicBezTo>
                    <a:pt x="3892" y="0"/>
                    <a:pt x="1" y="3878"/>
                    <a:pt x="1" y="8670"/>
                  </a:cubicBezTo>
                  <a:lnTo>
                    <a:pt x="1" y="13421"/>
                  </a:lnTo>
                  <a:lnTo>
                    <a:pt x="6322" y="13421"/>
                  </a:lnTo>
                  <a:cubicBezTo>
                    <a:pt x="11115" y="13421"/>
                    <a:pt x="15006" y="9530"/>
                    <a:pt x="15006" y="4738"/>
                  </a:cubicBezTo>
                  <a:lnTo>
                    <a:pt x="15006" y="0"/>
                  </a:lnTo>
                  <a:close/>
                </a:path>
              </a:pathLst>
            </a:cu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857;p125">
              <a:extLst>
                <a:ext uri="{FF2B5EF4-FFF2-40B4-BE49-F238E27FC236}">
                  <a16:creationId xmlns:a16="http://schemas.microsoft.com/office/drawing/2014/main" id="{4AB5BF08-8C1F-C062-D364-8951B0E400F9}"/>
                </a:ext>
              </a:extLst>
            </p:cNvPr>
            <p:cNvSpPr/>
            <p:nvPr/>
          </p:nvSpPr>
          <p:spPr>
            <a:xfrm>
              <a:off x="5381400" y="3561536"/>
              <a:ext cx="795055" cy="711131"/>
            </a:xfrm>
            <a:custGeom>
              <a:avLst/>
              <a:gdLst/>
              <a:ahLst/>
              <a:cxnLst/>
              <a:rect l="l" t="t" r="r" b="b"/>
              <a:pathLst>
                <a:path w="15006" h="13422" extrusionOk="0">
                  <a:moveTo>
                    <a:pt x="8684" y="1"/>
                  </a:moveTo>
                  <a:cubicBezTo>
                    <a:pt x="3892" y="1"/>
                    <a:pt x="1" y="3878"/>
                    <a:pt x="1" y="8670"/>
                  </a:cubicBezTo>
                  <a:lnTo>
                    <a:pt x="1" y="13422"/>
                  </a:lnTo>
                  <a:lnTo>
                    <a:pt x="6336" y="13422"/>
                  </a:lnTo>
                  <a:cubicBezTo>
                    <a:pt x="11115" y="13422"/>
                    <a:pt x="15006" y="9531"/>
                    <a:pt x="15006" y="4752"/>
                  </a:cubicBezTo>
                  <a:lnTo>
                    <a:pt x="15006" y="1"/>
                  </a:lnTo>
                  <a:close/>
                </a:path>
              </a:pathLst>
            </a:cu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858;p125">
              <a:extLst>
                <a:ext uri="{FF2B5EF4-FFF2-40B4-BE49-F238E27FC236}">
                  <a16:creationId xmlns:a16="http://schemas.microsoft.com/office/drawing/2014/main" id="{3DDE8355-4ED8-52B4-92BE-AC273C0DB291}"/>
                </a:ext>
              </a:extLst>
            </p:cNvPr>
            <p:cNvSpPr/>
            <p:nvPr/>
          </p:nvSpPr>
          <p:spPr>
            <a:xfrm>
              <a:off x="6209674" y="3561536"/>
              <a:ext cx="795055" cy="711131"/>
            </a:xfrm>
            <a:custGeom>
              <a:avLst/>
              <a:gdLst/>
              <a:ahLst/>
              <a:cxnLst/>
              <a:rect l="l" t="t" r="r" b="b"/>
              <a:pathLst>
                <a:path w="15006" h="13422" extrusionOk="0">
                  <a:moveTo>
                    <a:pt x="1" y="1"/>
                  </a:moveTo>
                  <a:lnTo>
                    <a:pt x="1" y="4752"/>
                  </a:lnTo>
                  <a:cubicBezTo>
                    <a:pt x="1" y="9531"/>
                    <a:pt x="3892" y="13422"/>
                    <a:pt x="8671" y="13422"/>
                  </a:cubicBezTo>
                  <a:lnTo>
                    <a:pt x="15006" y="13422"/>
                  </a:lnTo>
                  <a:lnTo>
                    <a:pt x="15006" y="8670"/>
                  </a:lnTo>
                  <a:cubicBezTo>
                    <a:pt x="15006" y="3878"/>
                    <a:pt x="11115" y="1"/>
                    <a:pt x="6322" y="1"/>
                  </a:cubicBezTo>
                  <a:close/>
                </a:path>
              </a:pathLst>
            </a:cu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859;p125">
              <a:extLst>
                <a:ext uri="{FF2B5EF4-FFF2-40B4-BE49-F238E27FC236}">
                  <a16:creationId xmlns:a16="http://schemas.microsoft.com/office/drawing/2014/main" id="{8FAF1959-7B30-EBC4-5FA4-98C765C96170}"/>
                </a:ext>
              </a:extLst>
            </p:cNvPr>
            <p:cNvSpPr/>
            <p:nvPr/>
          </p:nvSpPr>
          <p:spPr>
            <a:xfrm>
              <a:off x="5850188" y="3198394"/>
              <a:ext cx="685805" cy="685805"/>
            </a:xfrm>
            <a:custGeom>
              <a:avLst/>
              <a:gdLst/>
              <a:ahLst/>
              <a:cxnLst/>
              <a:rect l="l" t="t" r="r" b="b"/>
              <a:pathLst>
                <a:path w="12944" h="12944" extrusionOk="0">
                  <a:moveTo>
                    <a:pt x="12944" y="6472"/>
                  </a:moveTo>
                  <a:cubicBezTo>
                    <a:pt x="12944" y="10050"/>
                    <a:pt x="10049" y="12944"/>
                    <a:pt x="6472" y="12944"/>
                  </a:cubicBezTo>
                  <a:cubicBezTo>
                    <a:pt x="2895" y="12944"/>
                    <a:pt x="0" y="10050"/>
                    <a:pt x="0" y="6472"/>
                  </a:cubicBezTo>
                  <a:cubicBezTo>
                    <a:pt x="0" y="2895"/>
                    <a:pt x="2895" y="1"/>
                    <a:pt x="6472" y="1"/>
                  </a:cubicBezTo>
                  <a:cubicBezTo>
                    <a:pt x="10049" y="1"/>
                    <a:pt x="12944" y="2895"/>
                    <a:pt x="12944" y="64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2975133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8"/>
        <p:cNvGrpSpPr/>
        <p:nvPr/>
      </p:nvGrpSpPr>
      <p:grpSpPr>
        <a:xfrm>
          <a:off x="0" y="0"/>
          <a:ext cx="0" cy="0"/>
          <a:chOff x="0" y="0"/>
          <a:chExt cx="0" cy="0"/>
        </a:xfrm>
      </p:grpSpPr>
      <p:pic>
        <p:nvPicPr>
          <p:cNvPr id="3" name="Picture 2">
            <a:extLst>
              <a:ext uri="{FF2B5EF4-FFF2-40B4-BE49-F238E27FC236}">
                <a16:creationId xmlns:a16="http://schemas.microsoft.com/office/drawing/2014/main" id="{988FC538-836F-3ECD-1699-39A1A643731B}"/>
              </a:ext>
            </a:extLst>
          </p:cNvPr>
          <p:cNvPicPr>
            <a:picLocks noChangeAspect="1"/>
          </p:cNvPicPr>
          <p:nvPr/>
        </p:nvPicPr>
        <p:blipFill>
          <a:blip r:embed="rId3"/>
          <a:stretch>
            <a:fillRect/>
          </a:stretch>
        </p:blipFill>
        <p:spPr>
          <a:xfrm>
            <a:off x="700087" y="676275"/>
            <a:ext cx="7743825" cy="3790950"/>
          </a:xfrm>
          <a:prstGeom prst="rect">
            <a:avLst/>
          </a:prstGeom>
        </p:spPr>
      </p:pic>
      <p:sp>
        <p:nvSpPr>
          <p:cNvPr id="619" name="Google Shape;619;p73"/>
          <p:cNvSpPr txBox="1">
            <a:spLocks noGrp="1"/>
          </p:cNvSpPr>
          <p:nvPr>
            <p:ph type="title"/>
          </p:nvPr>
        </p:nvSpPr>
        <p:spPr>
          <a:xfrm>
            <a:off x="1153271" y="952029"/>
            <a:ext cx="1607411"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solidFill>
                  <a:srgbClr val="7B9B71"/>
                </a:solidFill>
              </a:rPr>
              <a:t>DAFO</a:t>
            </a:r>
          </a:p>
        </p:txBody>
      </p:sp>
    </p:spTree>
    <p:extLst>
      <p:ext uri="{BB962C8B-B14F-4D97-AF65-F5344CB8AC3E}">
        <p14:creationId xmlns:p14="http://schemas.microsoft.com/office/powerpoint/2010/main" val="3016625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5" y="359681"/>
            <a:ext cx="6327000" cy="572700"/>
          </a:xfrm>
          <a:prstGeom prst="rect">
            <a:avLst/>
          </a:prstGeom>
        </p:spPr>
        <p:txBody>
          <a:bodyPr spcFirstLastPara="1" wrap="square" lIns="91425" tIns="91425" rIns="91425" bIns="91425" anchor="t" anchorCtr="0">
            <a:noAutofit/>
          </a:bodyPr>
          <a:lstStyle/>
          <a:p>
            <a:pPr marL="0" lvl="0" indent="0" algn="l">
              <a:buClr>
                <a:schemeClr val="dk1"/>
              </a:buClr>
              <a:buSzPts val="1100"/>
            </a:pPr>
            <a:r>
              <a:rPr lang="ca-ES" dirty="0">
                <a:solidFill>
                  <a:srgbClr val="7B9B71"/>
                </a:solidFill>
              </a:rPr>
              <a:t>ESTRATÈGIA</a:t>
            </a:r>
          </a:p>
        </p:txBody>
      </p:sp>
      <p:sp>
        <p:nvSpPr>
          <p:cNvPr id="4" name="Subtitle 3">
            <a:extLst>
              <a:ext uri="{FF2B5EF4-FFF2-40B4-BE49-F238E27FC236}">
                <a16:creationId xmlns:a16="http://schemas.microsoft.com/office/drawing/2014/main" id="{C06034BB-BA49-A66C-39F3-95EAA368C4EB}"/>
              </a:ext>
            </a:extLst>
          </p:cNvPr>
          <p:cNvSpPr>
            <a:spLocks noGrp="1"/>
          </p:cNvSpPr>
          <p:nvPr>
            <p:ph type="subTitle" idx="4"/>
          </p:nvPr>
        </p:nvSpPr>
        <p:spPr>
          <a:xfrm>
            <a:off x="488373" y="1221102"/>
            <a:ext cx="8167254" cy="2790066"/>
          </a:xfrm>
        </p:spPr>
        <p:txBody>
          <a:bodyPr/>
          <a:lstStyle/>
          <a:p>
            <a:pPr algn="l"/>
            <a:r>
              <a:rPr lang="ca-ES" b="0" i="0" dirty="0">
                <a:solidFill>
                  <a:srgbClr val="000000"/>
                </a:solidFill>
                <a:effectLst/>
                <a:latin typeface="Open Sans" panose="020B0606030504020204" pitchFamily="34" charset="0"/>
              </a:rPr>
              <a:t>	</a:t>
            </a:r>
            <a:r>
              <a:rPr lang="ca-ES" b="1" i="0" dirty="0">
                <a:solidFill>
                  <a:srgbClr val="000000"/>
                </a:solidFill>
                <a:effectLst/>
                <a:latin typeface="Open Sans" panose="020B0606030504020204" pitchFamily="34" charset="0"/>
              </a:rPr>
              <a:t>Com a conclusió </a:t>
            </a:r>
            <a:r>
              <a:rPr lang="ca-ES" b="0" i="0" dirty="0">
                <a:solidFill>
                  <a:srgbClr val="000000"/>
                </a:solidFill>
                <a:effectLst/>
                <a:latin typeface="Open Sans" panose="020B0606030504020204" pitchFamily="34" charset="0"/>
              </a:rPr>
              <a:t>podem determinar que l’estratègia que a seguir és ofensiva F+O aprofitant les oportunitats de l’entorn. </a:t>
            </a:r>
          </a:p>
          <a:p>
            <a:pPr algn="l"/>
            <a:endParaRPr lang="ca-ES" b="0" i="0" dirty="0">
              <a:solidFill>
                <a:srgbClr val="000000"/>
              </a:solidFill>
              <a:effectLst/>
              <a:latin typeface="Open Sans" panose="020B0606030504020204" pitchFamily="34" charset="0"/>
            </a:endParaRPr>
          </a:p>
          <a:p>
            <a:pPr algn="l"/>
            <a:r>
              <a:rPr lang="ca-ES" b="0" i="0" dirty="0">
                <a:solidFill>
                  <a:srgbClr val="000000"/>
                </a:solidFill>
                <a:effectLst/>
                <a:latin typeface="Open Sans" panose="020B0606030504020204" pitchFamily="34" charset="0"/>
              </a:rPr>
              <a:t>	Innovació Contínua: Mantindrem un enfocament continu en la innovació per a mantenir millorar el servei innovador.</a:t>
            </a:r>
          </a:p>
          <a:p>
            <a:pPr algn="l"/>
            <a:endParaRPr lang="ca-ES" b="0" i="0" dirty="0">
              <a:solidFill>
                <a:srgbClr val="000000"/>
              </a:solidFill>
              <a:effectLst/>
              <a:latin typeface="Open Sans" panose="020B0606030504020204" pitchFamily="34" charset="0"/>
            </a:endParaRPr>
          </a:p>
          <a:p>
            <a:pPr algn="l"/>
            <a:r>
              <a:rPr lang="ca-ES" b="0" i="0" dirty="0">
                <a:solidFill>
                  <a:srgbClr val="000000"/>
                </a:solidFill>
                <a:effectLst/>
                <a:latin typeface="Open Sans" panose="020B0606030504020204" pitchFamily="34" charset="0"/>
              </a:rPr>
              <a:t>	Sostenibilitat Integrada: Alinearem l'empresa amb els tendències ecològiques i els ODS impulsats per l'ONU, comunicant activament aquesta integració als clients i a la comunitat.</a:t>
            </a:r>
          </a:p>
          <a:p>
            <a:pPr algn="l"/>
            <a:endParaRPr lang="ca-ES" b="0" i="0" dirty="0">
              <a:solidFill>
                <a:srgbClr val="000000"/>
              </a:solidFill>
              <a:effectLst/>
              <a:latin typeface="Open Sans" panose="020B0606030504020204" pitchFamily="34" charset="0"/>
            </a:endParaRPr>
          </a:p>
          <a:p>
            <a:pPr algn="l"/>
            <a:r>
              <a:rPr lang="ca-ES" b="0" i="0" dirty="0">
                <a:solidFill>
                  <a:srgbClr val="000000"/>
                </a:solidFill>
                <a:effectLst/>
                <a:latin typeface="Open Sans" panose="020B0606030504020204" pitchFamily="34" charset="0"/>
              </a:rPr>
              <a:t>	Diferenciació de la Competència: Mitigarem la competència dels serveis de venda de llibres similars amb estratègies de màrqueting que destaquin la qualitat, la innovació i els valors sostenibles de l'empresa.</a:t>
            </a:r>
          </a:p>
          <a:p>
            <a:pPr algn="l"/>
            <a:endParaRPr lang="ca-ES" b="0" i="0" dirty="0">
              <a:solidFill>
                <a:srgbClr val="000000"/>
              </a:solidFill>
              <a:effectLst/>
              <a:latin typeface="Open Sans" panose="020B0606030504020204" pitchFamily="34" charset="0"/>
            </a:endParaRPr>
          </a:p>
          <a:p>
            <a:pPr algn="l"/>
            <a:endParaRPr lang="ca-ES" dirty="0">
              <a:solidFill>
                <a:srgbClr val="000000"/>
              </a:solidFill>
              <a:latin typeface="Open Sans" panose="020B0606030504020204" pitchFamily="34" charset="0"/>
            </a:endParaRPr>
          </a:p>
          <a:p>
            <a:pPr algn="l"/>
            <a:r>
              <a:rPr lang="ca-ES" b="0" i="0" dirty="0">
                <a:solidFill>
                  <a:srgbClr val="000000"/>
                </a:solidFill>
                <a:effectLst/>
                <a:latin typeface="Open Sans" panose="020B0606030504020204" pitchFamily="34" charset="0"/>
              </a:rPr>
              <a:t>       </a:t>
            </a:r>
            <a:endParaRPr lang="ca-ES" dirty="0"/>
          </a:p>
        </p:txBody>
      </p:sp>
    </p:spTree>
    <p:extLst>
      <p:ext uri="{BB962C8B-B14F-4D97-AF65-F5344CB8AC3E}">
        <p14:creationId xmlns:p14="http://schemas.microsoft.com/office/powerpoint/2010/main" val="2434908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713224" y="359681"/>
            <a:ext cx="6793715" cy="572700"/>
          </a:xfrm>
          <a:prstGeom prst="rect">
            <a:avLst/>
          </a:prstGeom>
        </p:spPr>
        <p:txBody>
          <a:bodyPr spcFirstLastPara="1" wrap="square" lIns="91425" tIns="91425" rIns="91425" bIns="91425" anchor="t" anchorCtr="0">
            <a:noAutofit/>
          </a:bodyPr>
          <a:lstStyle/>
          <a:p>
            <a:pPr marL="0" lvl="0" indent="0" algn="ctr">
              <a:buClr>
                <a:schemeClr val="dk1"/>
              </a:buClr>
              <a:buSzPts val="1100"/>
            </a:pPr>
            <a:r>
              <a:rPr lang="ca-ES" dirty="0"/>
              <a:t>Proposta ODS</a:t>
            </a:r>
          </a:p>
        </p:txBody>
      </p:sp>
      <p:pic>
        <p:nvPicPr>
          <p:cNvPr id="5" name="Picture 4">
            <a:extLst>
              <a:ext uri="{FF2B5EF4-FFF2-40B4-BE49-F238E27FC236}">
                <a16:creationId xmlns:a16="http://schemas.microsoft.com/office/drawing/2014/main" id="{244EFE32-0734-4162-408D-4F91CAFB5D98}"/>
              </a:ext>
            </a:extLst>
          </p:cNvPr>
          <p:cNvPicPr>
            <a:picLocks noChangeAspect="1"/>
          </p:cNvPicPr>
          <p:nvPr/>
        </p:nvPicPr>
        <p:blipFill>
          <a:blip r:embed="rId3"/>
          <a:stretch>
            <a:fillRect/>
          </a:stretch>
        </p:blipFill>
        <p:spPr>
          <a:xfrm>
            <a:off x="622668" y="1221947"/>
            <a:ext cx="2248105" cy="1945358"/>
          </a:xfrm>
          <a:prstGeom prst="rect">
            <a:avLst/>
          </a:prstGeom>
        </p:spPr>
      </p:pic>
      <p:pic>
        <p:nvPicPr>
          <p:cNvPr id="6" name="Picture 5">
            <a:extLst>
              <a:ext uri="{FF2B5EF4-FFF2-40B4-BE49-F238E27FC236}">
                <a16:creationId xmlns:a16="http://schemas.microsoft.com/office/drawing/2014/main" id="{9019EA9F-2734-A34F-0D3E-C5DE825D598F}"/>
              </a:ext>
            </a:extLst>
          </p:cNvPr>
          <p:cNvPicPr>
            <a:picLocks noChangeAspect="1"/>
          </p:cNvPicPr>
          <p:nvPr/>
        </p:nvPicPr>
        <p:blipFill>
          <a:blip r:embed="rId4"/>
          <a:stretch>
            <a:fillRect/>
          </a:stretch>
        </p:blipFill>
        <p:spPr>
          <a:xfrm>
            <a:off x="622667" y="3391691"/>
            <a:ext cx="2248105" cy="1321722"/>
          </a:xfrm>
          <a:prstGeom prst="rect">
            <a:avLst/>
          </a:prstGeom>
        </p:spPr>
      </p:pic>
      <p:pic>
        <p:nvPicPr>
          <p:cNvPr id="7" name="Picture 6">
            <a:extLst>
              <a:ext uri="{FF2B5EF4-FFF2-40B4-BE49-F238E27FC236}">
                <a16:creationId xmlns:a16="http://schemas.microsoft.com/office/drawing/2014/main" id="{784A1266-3265-4BF0-6AB4-A7162C527C1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20786" y="1221949"/>
            <a:ext cx="2168071" cy="1297200"/>
          </a:xfrm>
          <a:prstGeom prst="rect">
            <a:avLst/>
          </a:prstGeom>
        </p:spPr>
      </p:pic>
      <p:pic>
        <p:nvPicPr>
          <p:cNvPr id="9" name="Picture 8">
            <a:extLst>
              <a:ext uri="{FF2B5EF4-FFF2-40B4-BE49-F238E27FC236}">
                <a16:creationId xmlns:a16="http://schemas.microsoft.com/office/drawing/2014/main" id="{E81CA911-B630-F508-76B0-2ED5CFF44957}"/>
              </a:ext>
            </a:extLst>
          </p:cNvPr>
          <p:cNvPicPr>
            <a:picLocks noChangeAspect="1"/>
          </p:cNvPicPr>
          <p:nvPr/>
        </p:nvPicPr>
        <p:blipFill>
          <a:blip r:embed="rId6"/>
          <a:stretch>
            <a:fillRect/>
          </a:stretch>
        </p:blipFill>
        <p:spPr>
          <a:xfrm>
            <a:off x="3020786" y="2691681"/>
            <a:ext cx="2168071" cy="2021732"/>
          </a:xfrm>
          <a:prstGeom prst="rect">
            <a:avLst/>
          </a:prstGeom>
        </p:spPr>
      </p:pic>
      <p:pic>
        <p:nvPicPr>
          <p:cNvPr id="11" name="Picture 10">
            <a:extLst>
              <a:ext uri="{FF2B5EF4-FFF2-40B4-BE49-F238E27FC236}">
                <a16:creationId xmlns:a16="http://schemas.microsoft.com/office/drawing/2014/main" id="{B83F7078-A1CD-B922-86F9-DB2215D9A896}"/>
              </a:ext>
            </a:extLst>
          </p:cNvPr>
          <p:cNvPicPr>
            <a:picLocks noChangeAspect="1"/>
          </p:cNvPicPr>
          <p:nvPr/>
        </p:nvPicPr>
        <p:blipFill>
          <a:blip r:embed="rId7"/>
          <a:stretch>
            <a:fillRect/>
          </a:stretch>
        </p:blipFill>
        <p:spPr>
          <a:xfrm>
            <a:off x="5338870" y="1221947"/>
            <a:ext cx="2156365" cy="2021732"/>
          </a:xfrm>
          <a:prstGeom prst="rect">
            <a:avLst/>
          </a:prstGeom>
        </p:spPr>
      </p:pic>
      <p:pic>
        <p:nvPicPr>
          <p:cNvPr id="13" name="Picture 12">
            <a:extLst>
              <a:ext uri="{FF2B5EF4-FFF2-40B4-BE49-F238E27FC236}">
                <a16:creationId xmlns:a16="http://schemas.microsoft.com/office/drawing/2014/main" id="{CAA22602-1AD9-BC5B-664D-BC59141E8010}"/>
              </a:ext>
            </a:extLst>
          </p:cNvPr>
          <p:cNvPicPr>
            <a:picLocks noChangeAspect="1"/>
          </p:cNvPicPr>
          <p:nvPr/>
        </p:nvPicPr>
        <p:blipFill rotWithShape="1">
          <a:blip r:embed="rId8"/>
          <a:srcRect b="41056"/>
          <a:stretch/>
        </p:blipFill>
        <p:spPr>
          <a:xfrm>
            <a:off x="5338870" y="3359076"/>
            <a:ext cx="2168071" cy="1167454"/>
          </a:xfrm>
          <a:prstGeom prst="rect">
            <a:avLst/>
          </a:prstGeom>
        </p:spPr>
      </p:pic>
    </p:spTree>
    <p:extLst>
      <p:ext uri="{BB962C8B-B14F-4D97-AF65-F5344CB8AC3E}">
        <p14:creationId xmlns:p14="http://schemas.microsoft.com/office/powerpoint/2010/main" val="3396452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5" y="445025"/>
            <a:ext cx="7980502"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ca-ES" dirty="0">
                <a:solidFill>
                  <a:srgbClr val="7B9B71"/>
                </a:solidFill>
              </a:rPr>
              <a:t>Objectius de Desenvolupament Sostenibles</a:t>
            </a:r>
          </a:p>
        </p:txBody>
      </p:sp>
      <p:sp>
        <p:nvSpPr>
          <p:cNvPr id="495" name="Google Shape;495;p61"/>
          <p:cNvSpPr txBox="1">
            <a:spLocks noGrp="1"/>
          </p:cNvSpPr>
          <p:nvPr>
            <p:ph type="subTitle" idx="3"/>
          </p:nvPr>
        </p:nvSpPr>
        <p:spPr>
          <a:xfrm>
            <a:off x="4440380" y="2231102"/>
            <a:ext cx="4551231" cy="29832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ca-ES" dirty="0"/>
              <a:t>Ciutats i comunitats sostenibles</a:t>
            </a:r>
          </a:p>
        </p:txBody>
      </p:sp>
      <p:sp>
        <p:nvSpPr>
          <p:cNvPr id="498" name="Google Shape;498;p61"/>
          <p:cNvSpPr txBox="1">
            <a:spLocks noGrp="1"/>
          </p:cNvSpPr>
          <p:nvPr>
            <p:ph type="subTitle" idx="4"/>
          </p:nvPr>
        </p:nvSpPr>
        <p:spPr>
          <a:xfrm>
            <a:off x="4786472" y="2557130"/>
            <a:ext cx="4205139" cy="7836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lang="ca-ES" dirty="0"/>
          </a:p>
        </p:txBody>
      </p:sp>
      <p:sp>
        <p:nvSpPr>
          <p:cNvPr id="503" name="Google Shape;503;p61"/>
          <p:cNvSpPr txBox="1">
            <a:spLocks noGrp="1"/>
          </p:cNvSpPr>
          <p:nvPr>
            <p:ph type="title" idx="9"/>
          </p:nvPr>
        </p:nvSpPr>
        <p:spPr>
          <a:xfrm>
            <a:off x="5720670" y="1621898"/>
            <a:ext cx="2381893"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ODS 06</a:t>
            </a:r>
            <a:endParaRPr dirty="0"/>
          </a:p>
        </p:txBody>
      </p:sp>
      <p:sp>
        <p:nvSpPr>
          <p:cNvPr id="10" name="Google Shape;495;p61">
            <a:extLst>
              <a:ext uri="{FF2B5EF4-FFF2-40B4-BE49-F238E27FC236}">
                <a16:creationId xmlns:a16="http://schemas.microsoft.com/office/drawing/2014/main" id="{46F5CF95-D069-AB1F-BDDF-F794B73E15C9}"/>
              </a:ext>
            </a:extLst>
          </p:cNvPr>
          <p:cNvSpPr txBox="1">
            <a:spLocks/>
          </p:cNvSpPr>
          <p:nvPr/>
        </p:nvSpPr>
        <p:spPr>
          <a:xfrm>
            <a:off x="429213" y="2134112"/>
            <a:ext cx="4205139" cy="357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100"/>
              <a:buFont typeface="Montserrat"/>
              <a:buNone/>
              <a:defRPr sz="2400" b="0" i="0" u="none" strike="noStrike" cap="none">
                <a:solidFill>
                  <a:schemeClr val="dk2"/>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9pPr>
          </a:lstStyle>
          <a:p>
            <a:pPr marL="0" indent="0"/>
            <a:r>
              <a:rPr lang="ca-ES" dirty="0"/>
              <a:t>Educació de qualitat</a:t>
            </a:r>
          </a:p>
        </p:txBody>
      </p:sp>
      <p:sp>
        <p:nvSpPr>
          <p:cNvPr id="11" name="Google Shape;498;p61">
            <a:extLst>
              <a:ext uri="{FF2B5EF4-FFF2-40B4-BE49-F238E27FC236}">
                <a16:creationId xmlns:a16="http://schemas.microsoft.com/office/drawing/2014/main" id="{B7F76FE7-97DC-E291-9D7D-77435085E126}"/>
              </a:ext>
            </a:extLst>
          </p:cNvPr>
          <p:cNvSpPr txBox="1">
            <a:spLocks/>
          </p:cNvSpPr>
          <p:nvPr/>
        </p:nvSpPr>
        <p:spPr>
          <a:xfrm>
            <a:off x="429213" y="2095766"/>
            <a:ext cx="4205139" cy="9697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endParaRPr lang="ca-ES" dirty="0"/>
          </a:p>
        </p:txBody>
      </p:sp>
      <p:sp>
        <p:nvSpPr>
          <p:cNvPr id="12" name="Google Shape;503;p61">
            <a:extLst>
              <a:ext uri="{FF2B5EF4-FFF2-40B4-BE49-F238E27FC236}">
                <a16:creationId xmlns:a16="http://schemas.microsoft.com/office/drawing/2014/main" id="{27C146F2-FC47-0E9D-DBD5-FD0C060BF80F}"/>
              </a:ext>
            </a:extLst>
          </p:cNvPr>
          <p:cNvSpPr txBox="1">
            <a:spLocks/>
          </p:cNvSpPr>
          <p:nvPr/>
        </p:nvSpPr>
        <p:spPr>
          <a:xfrm>
            <a:off x="1287211" y="1538762"/>
            <a:ext cx="2381893" cy="66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4000"/>
              <a:buFont typeface="Vidaloka"/>
              <a:buNone/>
              <a:defRPr sz="3800" b="0" i="0" u="none" strike="noStrike" cap="none">
                <a:solidFill>
                  <a:schemeClr val="accent1"/>
                </a:solidFill>
                <a:latin typeface="Vidaloka"/>
                <a:ea typeface="Vidaloka"/>
                <a:cs typeface="Vidaloka"/>
                <a:sym typeface="Vidaloka"/>
              </a:defRPr>
            </a:lvl1pPr>
            <a:lvl2pPr marR="0" lvl="1"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9pPr>
          </a:lstStyle>
          <a:p>
            <a:r>
              <a:rPr lang="en-US" dirty="0"/>
              <a:t>ODS 04</a:t>
            </a:r>
          </a:p>
        </p:txBody>
      </p:sp>
      <p:sp>
        <p:nvSpPr>
          <p:cNvPr id="25" name="Google Shape;495;p61">
            <a:extLst>
              <a:ext uri="{FF2B5EF4-FFF2-40B4-BE49-F238E27FC236}">
                <a16:creationId xmlns:a16="http://schemas.microsoft.com/office/drawing/2014/main" id="{1A4A0F4C-0E86-2329-5845-808961111A05}"/>
              </a:ext>
            </a:extLst>
          </p:cNvPr>
          <p:cNvSpPr txBox="1">
            <a:spLocks/>
          </p:cNvSpPr>
          <p:nvPr/>
        </p:nvSpPr>
        <p:spPr>
          <a:xfrm>
            <a:off x="366867" y="3660880"/>
            <a:ext cx="4205139" cy="357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100"/>
              <a:buFont typeface="Montserrat"/>
              <a:buNone/>
              <a:defRPr sz="2400" b="0" i="0" u="none" strike="noStrike" cap="none">
                <a:solidFill>
                  <a:schemeClr val="dk2"/>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9pPr>
          </a:lstStyle>
          <a:p>
            <a:pPr marL="0" indent="0"/>
            <a:r>
              <a:rPr lang="ca-ES" dirty="0"/>
              <a:t>Reducció de les desigualtats</a:t>
            </a:r>
          </a:p>
        </p:txBody>
      </p:sp>
      <p:sp>
        <p:nvSpPr>
          <p:cNvPr id="26" name="Google Shape;498;p61">
            <a:extLst>
              <a:ext uri="{FF2B5EF4-FFF2-40B4-BE49-F238E27FC236}">
                <a16:creationId xmlns:a16="http://schemas.microsoft.com/office/drawing/2014/main" id="{3581BC3E-03FA-4667-8777-C10A53C5CAEA}"/>
              </a:ext>
            </a:extLst>
          </p:cNvPr>
          <p:cNvSpPr txBox="1">
            <a:spLocks/>
          </p:cNvSpPr>
          <p:nvPr/>
        </p:nvSpPr>
        <p:spPr>
          <a:xfrm>
            <a:off x="366867" y="3973054"/>
            <a:ext cx="4205139" cy="7836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endParaRPr lang="ca-ES" dirty="0"/>
          </a:p>
        </p:txBody>
      </p:sp>
      <p:sp>
        <p:nvSpPr>
          <p:cNvPr id="27" name="Google Shape;503;p61">
            <a:extLst>
              <a:ext uri="{FF2B5EF4-FFF2-40B4-BE49-F238E27FC236}">
                <a16:creationId xmlns:a16="http://schemas.microsoft.com/office/drawing/2014/main" id="{D4A2D7D5-023E-F8DD-96C9-6D786FD488AB}"/>
              </a:ext>
            </a:extLst>
          </p:cNvPr>
          <p:cNvSpPr txBox="1">
            <a:spLocks/>
          </p:cNvSpPr>
          <p:nvPr/>
        </p:nvSpPr>
        <p:spPr>
          <a:xfrm>
            <a:off x="1224865" y="3065530"/>
            <a:ext cx="2381893" cy="66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4000"/>
              <a:buFont typeface="Vidaloka"/>
              <a:buNone/>
              <a:defRPr sz="3800" b="0" i="0" u="none" strike="noStrike" cap="none">
                <a:solidFill>
                  <a:schemeClr val="accent1"/>
                </a:solidFill>
                <a:latin typeface="Vidaloka"/>
                <a:ea typeface="Vidaloka"/>
                <a:cs typeface="Vidaloka"/>
                <a:sym typeface="Vidaloka"/>
              </a:defRPr>
            </a:lvl1pPr>
            <a:lvl2pPr marR="0" lvl="1"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9pPr>
          </a:lstStyle>
          <a:p>
            <a:r>
              <a:rPr lang="en-US" dirty="0"/>
              <a:t>ODS 10</a:t>
            </a:r>
          </a:p>
        </p:txBody>
      </p:sp>
      <p:sp>
        <p:nvSpPr>
          <p:cNvPr id="28" name="Google Shape;495;p61">
            <a:extLst>
              <a:ext uri="{FF2B5EF4-FFF2-40B4-BE49-F238E27FC236}">
                <a16:creationId xmlns:a16="http://schemas.microsoft.com/office/drawing/2014/main" id="{91BAF864-A5C1-F517-9C76-3329ECB94163}"/>
              </a:ext>
            </a:extLst>
          </p:cNvPr>
          <p:cNvSpPr txBox="1">
            <a:spLocks/>
          </p:cNvSpPr>
          <p:nvPr/>
        </p:nvSpPr>
        <p:spPr>
          <a:xfrm>
            <a:off x="4412540" y="3695131"/>
            <a:ext cx="4551232" cy="357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100"/>
              <a:buFont typeface="Montserrat"/>
              <a:buNone/>
              <a:defRPr sz="2400" b="0" i="0" u="none" strike="noStrike" cap="none">
                <a:solidFill>
                  <a:schemeClr val="dk2"/>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9pPr>
          </a:lstStyle>
          <a:p>
            <a:pPr marL="0" indent="0"/>
            <a:r>
              <a:rPr lang="ca-ES" dirty="0"/>
              <a:t>Pau i Institucions sòlides</a:t>
            </a:r>
          </a:p>
        </p:txBody>
      </p:sp>
      <p:sp>
        <p:nvSpPr>
          <p:cNvPr id="29" name="Google Shape;498;p61">
            <a:extLst>
              <a:ext uri="{FF2B5EF4-FFF2-40B4-BE49-F238E27FC236}">
                <a16:creationId xmlns:a16="http://schemas.microsoft.com/office/drawing/2014/main" id="{07628F3D-9C40-86CA-005D-BB62CF392CB6}"/>
              </a:ext>
            </a:extLst>
          </p:cNvPr>
          <p:cNvSpPr txBox="1">
            <a:spLocks/>
          </p:cNvSpPr>
          <p:nvPr/>
        </p:nvSpPr>
        <p:spPr>
          <a:xfrm>
            <a:off x="4585587" y="3979981"/>
            <a:ext cx="4205139" cy="7836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r>
              <a:rPr lang="ca-ES" b="0" i="0" dirty="0">
                <a:solidFill>
                  <a:srgbClr val="000000"/>
                </a:solidFill>
                <a:effectLst/>
                <a:latin typeface="Open Sans" panose="020B0606030504020204" pitchFamily="34" charset="0"/>
              </a:rPr>
              <a:t>.</a:t>
            </a:r>
            <a:endParaRPr lang="ca-ES" dirty="0"/>
          </a:p>
        </p:txBody>
      </p:sp>
      <p:sp>
        <p:nvSpPr>
          <p:cNvPr id="30" name="Google Shape;503;p61">
            <a:extLst>
              <a:ext uri="{FF2B5EF4-FFF2-40B4-BE49-F238E27FC236}">
                <a16:creationId xmlns:a16="http://schemas.microsoft.com/office/drawing/2014/main" id="{A69EDEEF-8B34-C93A-0026-31BB6CF2BA2E}"/>
              </a:ext>
            </a:extLst>
          </p:cNvPr>
          <p:cNvSpPr txBox="1">
            <a:spLocks/>
          </p:cNvSpPr>
          <p:nvPr/>
        </p:nvSpPr>
        <p:spPr>
          <a:xfrm>
            <a:off x="5443585" y="3072457"/>
            <a:ext cx="2381893" cy="66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4000"/>
              <a:buFont typeface="Vidaloka"/>
              <a:buNone/>
              <a:defRPr sz="3800" b="0" i="0" u="none" strike="noStrike" cap="none">
                <a:solidFill>
                  <a:schemeClr val="accent1"/>
                </a:solidFill>
                <a:latin typeface="Vidaloka"/>
                <a:ea typeface="Vidaloka"/>
                <a:cs typeface="Vidaloka"/>
                <a:sym typeface="Vidaloka"/>
              </a:defRPr>
            </a:lvl1pPr>
            <a:lvl2pPr marR="0" lvl="1"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4000"/>
              <a:buFont typeface="Arial"/>
              <a:buNone/>
              <a:defRPr sz="4000" b="0" i="1" u="none" strike="noStrike" cap="none">
                <a:solidFill>
                  <a:schemeClr val="dk2"/>
                </a:solidFill>
                <a:latin typeface="Arial"/>
                <a:ea typeface="Arial"/>
                <a:cs typeface="Arial"/>
                <a:sym typeface="Arial"/>
              </a:defRPr>
            </a:lvl9pPr>
          </a:lstStyle>
          <a:p>
            <a:r>
              <a:rPr lang="en-US" dirty="0"/>
              <a:t>ODS 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4"/>
        <p:cNvGrpSpPr/>
        <p:nvPr/>
      </p:nvGrpSpPr>
      <p:grpSpPr>
        <a:xfrm>
          <a:off x="0" y="0"/>
          <a:ext cx="0" cy="0"/>
          <a:chOff x="0" y="0"/>
          <a:chExt cx="0" cy="0"/>
        </a:xfrm>
      </p:grpSpPr>
      <p:sp>
        <p:nvSpPr>
          <p:cNvPr id="6" name="Google Shape;623;p73">
            <a:extLst>
              <a:ext uri="{FF2B5EF4-FFF2-40B4-BE49-F238E27FC236}">
                <a16:creationId xmlns:a16="http://schemas.microsoft.com/office/drawing/2014/main" id="{69C2DE64-CDAF-A051-B607-C5C5122959E3}"/>
              </a:ext>
            </a:extLst>
          </p:cNvPr>
          <p:cNvSpPr txBox="1">
            <a:spLocks/>
          </p:cNvSpPr>
          <p:nvPr/>
        </p:nvSpPr>
        <p:spPr>
          <a:xfrm>
            <a:off x="698086" y="365760"/>
            <a:ext cx="7747828" cy="388289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marR="0">
              <a:lnSpc>
                <a:spcPct val="115000"/>
              </a:lnSpc>
              <a:spcBef>
                <a:spcPts val="0"/>
              </a:spcBef>
              <a:spcAft>
                <a:spcPts val="0"/>
              </a:spcAft>
            </a:pPr>
            <a:r>
              <a:rPr lang="ca-ES" sz="1800" b="1" i="1" dirty="0">
                <a:solidFill>
                  <a:schemeClr val="tx1"/>
                </a:solidFill>
                <a:latin typeface="Calibri" panose="020F0502020204030204" pitchFamily="34" charset="0"/>
                <a:ea typeface="Arial" panose="020B0604020202020204" pitchFamily="34" charset="0"/>
              </a:rPr>
              <a:t>Costos fixes</a:t>
            </a:r>
            <a:r>
              <a:rPr lang="ca-ES" sz="1800" b="1" i="1" dirty="0">
                <a:solidFill>
                  <a:schemeClr val="tx1"/>
                </a:solidFill>
                <a:effectLst/>
                <a:latin typeface="Calibri" panose="020F0502020204030204" pitchFamily="34" charset="0"/>
                <a:ea typeface="Arial" panose="020B0604020202020204" pitchFamily="34" charset="0"/>
              </a:rPr>
              <a:t>.</a:t>
            </a:r>
          </a:p>
          <a:p>
            <a:pPr marL="0" marR="0" algn="l">
              <a:lnSpc>
                <a:spcPct val="115000"/>
              </a:lnSpc>
              <a:spcBef>
                <a:spcPts val="0"/>
              </a:spcBef>
              <a:spcAft>
                <a:spcPts val="0"/>
              </a:spcAft>
            </a:pPr>
            <a:endParaRPr lang="ca-ES" sz="1800" b="1" i="1" dirty="0">
              <a:solidFill>
                <a:schemeClr val="tx1"/>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r>
              <a:rPr lang="ca-ES" sz="1800" b="1" i="1" dirty="0">
                <a:solidFill>
                  <a:schemeClr val="tx1">
                    <a:lumMod val="85000"/>
                    <a:lumOff val="15000"/>
                  </a:schemeClr>
                </a:solidFill>
                <a:effectLst/>
                <a:latin typeface="Calibri" panose="020F0502020204030204" pitchFamily="34" charset="0"/>
                <a:ea typeface="Arial" panose="020B0604020202020204" pitchFamily="34" charset="0"/>
              </a:rPr>
              <a:t>Total costos fixes:</a:t>
            </a:r>
            <a:r>
              <a:rPr lang="ca-ES" sz="1800" i="1" dirty="0">
                <a:solidFill>
                  <a:schemeClr val="tx1">
                    <a:lumMod val="85000"/>
                    <a:lumOff val="15000"/>
                  </a:schemeClr>
                </a:solidFill>
                <a:effectLst/>
                <a:latin typeface="Calibri" panose="020F0502020204030204" pitchFamily="34" charset="0"/>
                <a:ea typeface="Arial" panose="020B0604020202020204" pitchFamily="34" charset="0"/>
              </a:rPr>
              <a:t> </a:t>
            </a:r>
            <a:r>
              <a:rPr lang="ca-ES" sz="1800" dirty="0">
                <a:solidFill>
                  <a:schemeClr val="tx1">
                    <a:lumMod val="85000"/>
                    <a:lumOff val="15000"/>
                  </a:schemeClr>
                </a:solidFill>
                <a:effectLst/>
                <a:latin typeface="Calibri" panose="020F0502020204030204" pitchFamily="34" charset="0"/>
                <a:ea typeface="Arial" panose="020B0604020202020204" pitchFamily="34" charset="0"/>
              </a:rPr>
              <a:t> 3907.42€ + </a:t>
            </a:r>
            <a:r>
              <a:rPr lang="ca-ES" sz="1800" i="1" dirty="0">
                <a:solidFill>
                  <a:schemeClr val="tx1">
                    <a:lumMod val="85000"/>
                    <a:lumOff val="15000"/>
                  </a:schemeClr>
                </a:solidFill>
                <a:effectLst/>
                <a:latin typeface="Calibri" panose="020F0502020204030204" pitchFamily="34" charset="0"/>
                <a:ea typeface="Arial" panose="020B0604020202020204" pitchFamily="34" charset="0"/>
              </a:rPr>
              <a:t>2304€ + 670€ + 87€ + 200€ = </a:t>
            </a:r>
            <a:r>
              <a:rPr lang="ca-ES" sz="1800" b="1" i="1" dirty="0">
                <a:solidFill>
                  <a:schemeClr val="tx1">
                    <a:lumMod val="85000"/>
                    <a:lumOff val="15000"/>
                  </a:schemeClr>
                </a:solidFill>
                <a:effectLst/>
                <a:latin typeface="Calibri" panose="020F0502020204030204" pitchFamily="34" charset="0"/>
                <a:ea typeface="Arial" panose="020B0604020202020204" pitchFamily="34" charset="0"/>
              </a:rPr>
              <a:t>7168€</a:t>
            </a:r>
          </a:p>
        </p:txBody>
      </p:sp>
      <p:pic>
        <p:nvPicPr>
          <p:cNvPr id="8" name="Picture 7">
            <a:extLst>
              <a:ext uri="{FF2B5EF4-FFF2-40B4-BE49-F238E27FC236}">
                <a16:creationId xmlns:a16="http://schemas.microsoft.com/office/drawing/2014/main" id="{D20B7029-D94B-6845-62AB-63C71B2740AB}"/>
              </a:ext>
            </a:extLst>
          </p:cNvPr>
          <p:cNvPicPr>
            <a:picLocks noChangeAspect="1"/>
          </p:cNvPicPr>
          <p:nvPr/>
        </p:nvPicPr>
        <p:blipFill>
          <a:blip r:embed="rId3"/>
          <a:stretch>
            <a:fillRect/>
          </a:stretch>
        </p:blipFill>
        <p:spPr>
          <a:xfrm>
            <a:off x="698086" y="879633"/>
            <a:ext cx="2530952" cy="1805940"/>
          </a:xfrm>
          <a:prstGeom prst="rect">
            <a:avLst/>
          </a:prstGeom>
        </p:spPr>
      </p:pic>
      <p:pic>
        <p:nvPicPr>
          <p:cNvPr id="12" name="Picture 11">
            <a:extLst>
              <a:ext uri="{FF2B5EF4-FFF2-40B4-BE49-F238E27FC236}">
                <a16:creationId xmlns:a16="http://schemas.microsoft.com/office/drawing/2014/main" id="{21C00033-6F44-8CE3-6FE5-6600C19776DB}"/>
              </a:ext>
            </a:extLst>
          </p:cNvPr>
          <p:cNvPicPr>
            <a:picLocks noChangeAspect="1"/>
          </p:cNvPicPr>
          <p:nvPr/>
        </p:nvPicPr>
        <p:blipFill>
          <a:blip r:embed="rId4"/>
          <a:stretch>
            <a:fillRect/>
          </a:stretch>
        </p:blipFill>
        <p:spPr>
          <a:xfrm>
            <a:off x="3365774" y="879633"/>
            <a:ext cx="2471702" cy="1579245"/>
          </a:xfrm>
          <a:prstGeom prst="rect">
            <a:avLst/>
          </a:prstGeom>
        </p:spPr>
      </p:pic>
      <p:pic>
        <p:nvPicPr>
          <p:cNvPr id="14" name="Picture 13">
            <a:extLst>
              <a:ext uri="{FF2B5EF4-FFF2-40B4-BE49-F238E27FC236}">
                <a16:creationId xmlns:a16="http://schemas.microsoft.com/office/drawing/2014/main" id="{D521EF3F-8C82-CFF9-7D0B-9627E1EBDFAE}"/>
              </a:ext>
            </a:extLst>
          </p:cNvPr>
          <p:cNvPicPr>
            <a:picLocks noChangeAspect="1"/>
          </p:cNvPicPr>
          <p:nvPr/>
        </p:nvPicPr>
        <p:blipFill>
          <a:blip r:embed="rId5"/>
          <a:stretch>
            <a:fillRect/>
          </a:stretch>
        </p:blipFill>
        <p:spPr>
          <a:xfrm>
            <a:off x="698086" y="2769647"/>
            <a:ext cx="2139134" cy="1318737"/>
          </a:xfrm>
          <a:prstGeom prst="rect">
            <a:avLst/>
          </a:prstGeom>
        </p:spPr>
      </p:pic>
      <p:pic>
        <p:nvPicPr>
          <p:cNvPr id="20" name="Picture 19">
            <a:extLst>
              <a:ext uri="{FF2B5EF4-FFF2-40B4-BE49-F238E27FC236}">
                <a16:creationId xmlns:a16="http://schemas.microsoft.com/office/drawing/2014/main" id="{8C018DAF-ADB5-519A-B50C-4E1B1AD233DF}"/>
              </a:ext>
            </a:extLst>
          </p:cNvPr>
          <p:cNvPicPr>
            <a:picLocks noChangeAspect="1"/>
          </p:cNvPicPr>
          <p:nvPr/>
        </p:nvPicPr>
        <p:blipFill>
          <a:blip r:embed="rId6"/>
          <a:stretch>
            <a:fillRect/>
          </a:stretch>
        </p:blipFill>
        <p:spPr>
          <a:xfrm>
            <a:off x="3432243" y="2853059"/>
            <a:ext cx="2405233" cy="753025"/>
          </a:xfrm>
          <a:prstGeom prst="rect">
            <a:avLst/>
          </a:prstGeom>
        </p:spPr>
      </p:pic>
      <p:pic>
        <p:nvPicPr>
          <p:cNvPr id="22" name="Picture 21">
            <a:extLst>
              <a:ext uri="{FF2B5EF4-FFF2-40B4-BE49-F238E27FC236}">
                <a16:creationId xmlns:a16="http://schemas.microsoft.com/office/drawing/2014/main" id="{3196F242-D62B-4045-C4D8-C242A0304E12}"/>
              </a:ext>
            </a:extLst>
          </p:cNvPr>
          <p:cNvPicPr>
            <a:picLocks noChangeAspect="1"/>
          </p:cNvPicPr>
          <p:nvPr/>
        </p:nvPicPr>
        <p:blipFill>
          <a:blip r:embed="rId7"/>
          <a:stretch>
            <a:fillRect/>
          </a:stretch>
        </p:blipFill>
        <p:spPr>
          <a:xfrm>
            <a:off x="5974212" y="879633"/>
            <a:ext cx="2390396" cy="2271237"/>
          </a:xfrm>
          <a:prstGeom prst="rect">
            <a:avLst/>
          </a:prstGeom>
        </p:spPr>
      </p:pic>
    </p:spTree>
    <p:extLst>
      <p:ext uri="{BB962C8B-B14F-4D97-AF65-F5344CB8AC3E}">
        <p14:creationId xmlns:p14="http://schemas.microsoft.com/office/powerpoint/2010/main" val="2745303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4"/>
        <p:cNvGrpSpPr/>
        <p:nvPr/>
      </p:nvGrpSpPr>
      <p:grpSpPr>
        <a:xfrm>
          <a:off x="0" y="0"/>
          <a:ext cx="0" cy="0"/>
          <a:chOff x="0" y="0"/>
          <a:chExt cx="0" cy="0"/>
        </a:xfrm>
      </p:grpSpPr>
      <p:pic>
        <p:nvPicPr>
          <p:cNvPr id="2" name="Picture 1" descr="Sector editorial: precio medio del libro España 2004-2019 | Statista">
            <a:extLst>
              <a:ext uri="{FF2B5EF4-FFF2-40B4-BE49-F238E27FC236}">
                <a16:creationId xmlns:a16="http://schemas.microsoft.com/office/drawing/2014/main" id="{FB3171CD-9954-3559-80F8-244DEE567547}"/>
              </a:ext>
            </a:extLst>
          </p:cNvPr>
          <p:cNvPicPr>
            <a:picLocks noChangeAspect="1"/>
          </p:cNvPicPr>
          <p:nvPr/>
        </p:nvPicPr>
        <p:blipFill rotWithShape="1">
          <a:blip r:embed="rId3">
            <a:extLst>
              <a:ext uri="{28A0092B-C50C-407E-A947-70E740481C1C}">
                <a14:useLocalDpi xmlns:a14="http://schemas.microsoft.com/office/drawing/2010/main" val="0"/>
              </a:ext>
            </a:extLst>
          </a:blip>
          <a:srcRect t="15347"/>
          <a:stretch/>
        </p:blipFill>
        <p:spPr bwMode="auto">
          <a:xfrm>
            <a:off x="1000570" y="1793367"/>
            <a:ext cx="3296160" cy="2071938"/>
          </a:xfrm>
          <a:prstGeom prst="rect">
            <a:avLst/>
          </a:prstGeom>
          <a:noFill/>
          <a:ln>
            <a:noFill/>
          </a:ln>
          <a:extLst>
            <a:ext uri="{53640926-AAD7-44D8-BBD7-CCE9431645EC}">
              <a14:shadowObscured xmlns:a14="http://schemas.microsoft.com/office/drawing/2010/main"/>
            </a:ext>
          </a:extLst>
        </p:spPr>
      </p:pic>
      <p:pic>
        <p:nvPicPr>
          <p:cNvPr id="4" name="Picture 3" descr="Industria editorial: precio medio del libro por subsector España 2019 |  Statista">
            <a:extLst>
              <a:ext uri="{FF2B5EF4-FFF2-40B4-BE49-F238E27FC236}">
                <a16:creationId xmlns:a16="http://schemas.microsoft.com/office/drawing/2014/main" id="{AB7C548F-9CBE-9D38-DA6D-ED39EBC02DF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5174" b="14070"/>
          <a:stretch/>
        </p:blipFill>
        <p:spPr bwMode="auto">
          <a:xfrm>
            <a:off x="4572000" y="1806956"/>
            <a:ext cx="3017206" cy="1810639"/>
          </a:xfrm>
          <a:prstGeom prst="rect">
            <a:avLst/>
          </a:prstGeom>
          <a:noFill/>
          <a:ln>
            <a:noFill/>
          </a:ln>
          <a:extLst>
            <a:ext uri="{53640926-AAD7-44D8-BBD7-CCE9431645EC}">
              <a14:shadowObscured xmlns:a14="http://schemas.microsoft.com/office/drawing/2010/main"/>
            </a:ext>
          </a:extLst>
        </p:spPr>
      </p:pic>
      <p:sp>
        <p:nvSpPr>
          <p:cNvPr id="5" name="Google Shape;623;p73">
            <a:extLst>
              <a:ext uri="{FF2B5EF4-FFF2-40B4-BE49-F238E27FC236}">
                <a16:creationId xmlns:a16="http://schemas.microsoft.com/office/drawing/2014/main" id="{34194EF3-8951-F437-7219-CF7EB07ED067}"/>
              </a:ext>
            </a:extLst>
          </p:cNvPr>
          <p:cNvSpPr txBox="1">
            <a:spLocks/>
          </p:cNvSpPr>
          <p:nvPr/>
        </p:nvSpPr>
        <p:spPr>
          <a:xfrm>
            <a:off x="627189" y="3819652"/>
            <a:ext cx="7747828" cy="851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marR="0">
              <a:lnSpc>
                <a:spcPct val="115000"/>
              </a:lnSpc>
              <a:spcBef>
                <a:spcPts val="0"/>
              </a:spcBef>
              <a:spcAft>
                <a:spcPts val="0"/>
              </a:spcAft>
            </a:pPr>
            <a:r>
              <a:rPr lang="ca-ES" sz="1200" dirty="0" err="1">
                <a:effectLst/>
                <a:latin typeface="Calibri" panose="020F0502020204030204" pitchFamily="34" charset="0"/>
                <a:ea typeface="Arial" panose="020B0604020202020204" pitchFamily="34" charset="0"/>
              </a:rPr>
              <a:t>Statista</a:t>
            </a:r>
            <a:r>
              <a:rPr lang="ca-ES" sz="1200" dirty="0">
                <a:effectLst/>
                <a:latin typeface="Calibri" panose="020F0502020204030204" pitchFamily="34" charset="0"/>
                <a:ea typeface="Arial" panose="020B0604020202020204" pitchFamily="34" charset="0"/>
              </a:rPr>
              <a:t>. (2024). </a:t>
            </a:r>
            <a:r>
              <a:rPr lang="ca-ES" sz="1200" dirty="0" err="1">
                <a:effectLst/>
                <a:latin typeface="Calibri" panose="020F0502020204030204" pitchFamily="34" charset="0"/>
                <a:ea typeface="Arial" panose="020B0604020202020204" pitchFamily="34" charset="0"/>
              </a:rPr>
              <a:t>Estadísticas</a:t>
            </a:r>
            <a:r>
              <a:rPr lang="ca-ES" sz="1200" dirty="0">
                <a:effectLst/>
                <a:latin typeface="Calibri" panose="020F0502020204030204" pitchFamily="34" charset="0"/>
                <a:ea typeface="Arial" panose="020B0604020202020204" pitchFamily="34" charset="0"/>
              </a:rPr>
              <a:t> sobre el </a:t>
            </a:r>
            <a:r>
              <a:rPr lang="ca-ES" sz="1200" dirty="0" err="1">
                <a:effectLst/>
                <a:latin typeface="Calibri" panose="020F0502020204030204" pitchFamily="34" charset="0"/>
                <a:ea typeface="Arial" panose="020B0604020202020204" pitchFamily="34" charset="0"/>
              </a:rPr>
              <a:t>precio</a:t>
            </a:r>
            <a:r>
              <a:rPr lang="ca-ES" sz="1200" dirty="0">
                <a:effectLst/>
                <a:latin typeface="Calibri" panose="020F0502020204030204" pitchFamily="34" charset="0"/>
                <a:ea typeface="Arial" panose="020B0604020202020204" pitchFamily="34" charset="0"/>
              </a:rPr>
              <a:t> de los </a:t>
            </a:r>
            <a:r>
              <a:rPr lang="ca-ES" sz="1200" dirty="0" err="1">
                <a:effectLst/>
                <a:latin typeface="Calibri" panose="020F0502020204030204" pitchFamily="34" charset="0"/>
                <a:ea typeface="Arial" panose="020B0604020202020204" pitchFamily="34" charset="0"/>
              </a:rPr>
              <a:t>libros</a:t>
            </a:r>
            <a:r>
              <a:rPr lang="ca-ES" sz="1200" dirty="0">
                <a:effectLst/>
                <a:latin typeface="Calibri" panose="020F0502020204030204" pitchFamily="34" charset="0"/>
                <a:ea typeface="Arial" panose="020B0604020202020204" pitchFamily="34" charset="0"/>
              </a:rPr>
              <a:t>. Recuperat de [</a:t>
            </a:r>
            <a:r>
              <a:rPr lang="ca-ES" sz="1200" dirty="0">
                <a:solidFill>
                  <a:srgbClr val="9BBB59"/>
                </a:solidFill>
                <a:effectLst/>
                <a:latin typeface="Calibri" panose="020F0502020204030204" pitchFamily="34" charset="0"/>
                <a:ea typeface="Arial" panose="020B0604020202020204" pitchFamily="34" charset="0"/>
              </a:rPr>
              <a:t>https://es.statista.com/estadisticas/473668/precio-medio-del-libro-espana/</a:t>
            </a:r>
            <a:r>
              <a:rPr lang="ca-ES" sz="1200" dirty="0">
                <a:effectLst/>
                <a:latin typeface="Calibri" panose="020F0502020204030204" pitchFamily="34" charset="0"/>
                <a:ea typeface="Arial" panose="020B0604020202020204" pitchFamily="34" charset="0"/>
              </a:rPr>
              <a:t>]</a:t>
            </a:r>
            <a:endParaRPr lang="en-US" sz="1200" dirty="0">
              <a:effectLst/>
              <a:latin typeface="Arial" panose="020B0604020202020204" pitchFamily="34" charset="0"/>
              <a:ea typeface="Arial" panose="020B0604020202020204" pitchFamily="34" charset="0"/>
            </a:endParaRPr>
          </a:p>
        </p:txBody>
      </p:sp>
      <p:sp>
        <p:nvSpPr>
          <p:cNvPr id="6" name="Google Shape;623;p73">
            <a:extLst>
              <a:ext uri="{FF2B5EF4-FFF2-40B4-BE49-F238E27FC236}">
                <a16:creationId xmlns:a16="http://schemas.microsoft.com/office/drawing/2014/main" id="{69C2DE64-CDAF-A051-B607-C5C5122959E3}"/>
              </a:ext>
            </a:extLst>
          </p:cNvPr>
          <p:cNvSpPr txBox="1">
            <a:spLocks/>
          </p:cNvSpPr>
          <p:nvPr/>
        </p:nvSpPr>
        <p:spPr>
          <a:xfrm>
            <a:off x="490029" y="465836"/>
            <a:ext cx="7747828" cy="16296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marR="0" algn="l">
              <a:lnSpc>
                <a:spcPct val="115000"/>
              </a:lnSpc>
              <a:spcBef>
                <a:spcPts val="0"/>
              </a:spcBef>
              <a:spcAft>
                <a:spcPts val="0"/>
              </a:spcAft>
            </a:pPr>
            <a:r>
              <a:rPr lang="ca-ES" sz="1800" b="1" i="1" dirty="0">
                <a:solidFill>
                  <a:srgbClr val="9BBB59"/>
                </a:solidFill>
                <a:effectLst/>
                <a:latin typeface="Calibri" panose="020F0502020204030204" pitchFamily="34" charset="0"/>
                <a:ea typeface="Arial" panose="020B0604020202020204" pitchFamily="34" charset="0"/>
              </a:rPr>
              <a:t>			</a:t>
            </a:r>
            <a:r>
              <a:rPr lang="ca-ES" sz="1800" b="1" i="1" dirty="0">
                <a:solidFill>
                  <a:srgbClr val="7B9B71"/>
                </a:solidFill>
                <a:effectLst/>
                <a:latin typeface="Calibri" panose="020F0502020204030204" pitchFamily="34" charset="0"/>
                <a:ea typeface="Arial" panose="020B0604020202020204" pitchFamily="34" charset="0"/>
              </a:rPr>
              <a:t>Preu mitjà d’un llibre.</a:t>
            </a:r>
          </a:p>
          <a:p>
            <a:pPr marL="0" marR="0" algn="l">
              <a:lnSpc>
                <a:spcPct val="115000"/>
              </a:lnSpc>
              <a:spcBef>
                <a:spcPts val="0"/>
              </a:spcBef>
              <a:spcAft>
                <a:spcPts val="0"/>
              </a:spcAft>
            </a:pPr>
            <a:endParaRPr lang="en-US" dirty="0"/>
          </a:p>
          <a:p>
            <a:pPr algn="l"/>
            <a:r>
              <a:rPr lang="ca-ES" dirty="0"/>
              <a:t>	</a:t>
            </a:r>
            <a:r>
              <a:rPr lang="ca-ES" sz="1200" dirty="0"/>
              <a:t>En general, els preus dels llibres poden fluctuar considerablement segons la temàtica, tot i que, de manera general, el preu mitjà se situa </a:t>
            </a:r>
            <a:r>
              <a:rPr lang="ca-ES" sz="1200" b="1" dirty="0"/>
              <a:t>al voltant dels 20€</a:t>
            </a:r>
            <a:r>
              <a:rPr lang="ca-ES" sz="1200" dirty="0"/>
              <a:t>.</a:t>
            </a:r>
            <a:endParaRPr lang="en-US" dirty="0"/>
          </a:p>
        </p:txBody>
      </p:sp>
    </p:spTree>
    <p:extLst>
      <p:ext uri="{BB962C8B-B14F-4D97-AF65-F5344CB8AC3E}">
        <p14:creationId xmlns:p14="http://schemas.microsoft.com/office/powerpoint/2010/main" val="4194865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4"/>
        <p:cNvGrpSpPr/>
        <p:nvPr/>
      </p:nvGrpSpPr>
      <p:grpSpPr>
        <a:xfrm>
          <a:off x="0" y="0"/>
          <a:ext cx="0" cy="0"/>
          <a:chOff x="0" y="0"/>
          <a:chExt cx="0" cy="0"/>
        </a:xfrm>
      </p:grpSpPr>
      <p:sp>
        <p:nvSpPr>
          <p:cNvPr id="6" name="Google Shape;623;p73">
            <a:extLst>
              <a:ext uri="{FF2B5EF4-FFF2-40B4-BE49-F238E27FC236}">
                <a16:creationId xmlns:a16="http://schemas.microsoft.com/office/drawing/2014/main" id="{69C2DE64-CDAF-A051-B607-C5C5122959E3}"/>
              </a:ext>
            </a:extLst>
          </p:cNvPr>
          <p:cNvSpPr txBox="1">
            <a:spLocks/>
          </p:cNvSpPr>
          <p:nvPr/>
        </p:nvSpPr>
        <p:spPr>
          <a:xfrm>
            <a:off x="698086" y="365760"/>
            <a:ext cx="7747828" cy="388289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marR="0">
              <a:lnSpc>
                <a:spcPct val="115000"/>
              </a:lnSpc>
              <a:spcBef>
                <a:spcPts val="0"/>
              </a:spcBef>
              <a:spcAft>
                <a:spcPts val="0"/>
              </a:spcAft>
            </a:pPr>
            <a:r>
              <a:rPr lang="ca-ES" sz="1800" b="1" i="1" dirty="0">
                <a:solidFill>
                  <a:schemeClr val="tx1"/>
                </a:solidFill>
                <a:effectLst/>
                <a:latin typeface="Calibri" panose="020F0502020204030204" pitchFamily="34" charset="0"/>
                <a:ea typeface="Arial" panose="020B0604020202020204" pitchFamily="34" charset="0"/>
              </a:rPr>
              <a:t>Cost variable unitari.</a:t>
            </a:r>
          </a:p>
          <a:p>
            <a:pPr marL="0" marR="0" algn="l">
              <a:lnSpc>
                <a:spcPct val="115000"/>
              </a:lnSpc>
              <a:spcBef>
                <a:spcPts val="0"/>
              </a:spcBef>
              <a:spcAft>
                <a:spcPts val="0"/>
              </a:spcAft>
            </a:pPr>
            <a:endParaRPr lang="ca-ES" sz="1800" b="1" i="1" dirty="0">
              <a:solidFill>
                <a:schemeClr val="tx1"/>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endParaRPr lang="ca-ES" sz="1800" b="1" i="1" dirty="0">
              <a:solidFill>
                <a:srgbClr val="404040"/>
              </a:solidFill>
              <a:latin typeface="Calibri" panose="020F0502020204030204" pitchFamily="34" charset="0"/>
              <a:ea typeface="Arial" panose="020B0604020202020204" pitchFamily="34" charset="0"/>
            </a:endParaRPr>
          </a:p>
          <a:p>
            <a:pPr marL="0" marR="0" algn="l">
              <a:lnSpc>
                <a:spcPct val="115000"/>
              </a:lnSpc>
              <a:spcBef>
                <a:spcPts val="0"/>
              </a:spcBef>
              <a:spcAft>
                <a:spcPts val="0"/>
              </a:spcAft>
            </a:pPr>
            <a:r>
              <a:rPr lang="es-ES" sz="1800" b="1" i="1" dirty="0" err="1">
                <a:solidFill>
                  <a:schemeClr val="tx1">
                    <a:lumMod val="85000"/>
                    <a:lumOff val="15000"/>
                  </a:schemeClr>
                </a:solidFill>
                <a:effectLst/>
                <a:latin typeface="Calibri" panose="020F0502020204030204" pitchFamily="34" charset="0"/>
                <a:ea typeface="Arial" panose="020B0604020202020204" pitchFamily="34" charset="0"/>
              </a:rPr>
              <a:t>Cost</a:t>
            </a:r>
            <a:r>
              <a:rPr lang="es-ES" sz="1800" b="1" i="1" dirty="0">
                <a:solidFill>
                  <a:schemeClr val="tx1">
                    <a:lumMod val="85000"/>
                    <a:lumOff val="15000"/>
                  </a:schemeClr>
                </a:solidFill>
                <a:effectLst/>
                <a:latin typeface="Calibri" panose="020F0502020204030204" pitchFamily="34" charset="0"/>
                <a:ea typeface="Arial" panose="020B0604020202020204" pitchFamily="34" charset="0"/>
              </a:rPr>
              <a:t> variable </a:t>
            </a:r>
            <a:r>
              <a:rPr lang="es-ES" sz="1800" b="1" i="1" dirty="0" err="1">
                <a:solidFill>
                  <a:schemeClr val="tx1">
                    <a:lumMod val="85000"/>
                    <a:lumOff val="15000"/>
                  </a:schemeClr>
                </a:solidFill>
                <a:effectLst/>
                <a:latin typeface="Calibri" panose="020F0502020204030204" pitchFamily="34" charset="0"/>
                <a:ea typeface="Arial" panose="020B0604020202020204" pitchFamily="34" charset="0"/>
              </a:rPr>
              <a:t>unitari</a:t>
            </a:r>
            <a:r>
              <a:rPr lang="es-ES" sz="1800" b="1" i="1" dirty="0">
                <a:solidFill>
                  <a:schemeClr val="tx1">
                    <a:lumMod val="85000"/>
                    <a:lumOff val="15000"/>
                  </a:schemeClr>
                </a:solidFill>
                <a:effectLst/>
                <a:latin typeface="Calibri" panose="020F0502020204030204" pitchFamily="34" charset="0"/>
                <a:ea typeface="Arial" panose="020B0604020202020204" pitchFamily="34" charset="0"/>
              </a:rPr>
              <a:t>: </a:t>
            </a:r>
            <a:r>
              <a:rPr lang="es-ES" sz="1800" i="1" dirty="0">
                <a:solidFill>
                  <a:schemeClr val="tx1">
                    <a:lumMod val="85000"/>
                    <a:lumOff val="15000"/>
                  </a:schemeClr>
                </a:solidFill>
                <a:effectLst/>
                <a:latin typeface="Calibri" panose="020F0502020204030204" pitchFamily="34" charset="0"/>
                <a:ea typeface="Arial" panose="020B0604020202020204" pitchFamily="34" charset="0"/>
              </a:rPr>
              <a:t>12€ + 0,20€ + 0.68€ = </a:t>
            </a:r>
            <a:r>
              <a:rPr lang="es-ES" sz="1800" b="1" i="1" dirty="0">
                <a:solidFill>
                  <a:schemeClr val="tx1">
                    <a:lumMod val="85000"/>
                    <a:lumOff val="15000"/>
                  </a:schemeClr>
                </a:solidFill>
                <a:effectLst/>
                <a:latin typeface="Calibri" panose="020F0502020204030204" pitchFamily="34" charset="0"/>
                <a:ea typeface="Arial" panose="020B0604020202020204" pitchFamily="34" charset="0"/>
              </a:rPr>
              <a:t>12.88€</a:t>
            </a:r>
          </a:p>
          <a:p>
            <a:pPr marL="0" marR="0" algn="l">
              <a:lnSpc>
                <a:spcPct val="115000"/>
              </a:lnSpc>
              <a:spcBef>
                <a:spcPts val="0"/>
              </a:spcBef>
              <a:spcAft>
                <a:spcPts val="0"/>
              </a:spcAft>
            </a:pPr>
            <a:endParaRPr lang="ca-ES" sz="1800" b="1" i="1" dirty="0">
              <a:solidFill>
                <a:schemeClr val="tx1">
                  <a:lumMod val="85000"/>
                  <a:lumOff val="15000"/>
                </a:schemeClr>
              </a:solidFill>
              <a:effectLst/>
              <a:latin typeface="Calibri" panose="020F0502020204030204" pitchFamily="34" charset="0"/>
              <a:ea typeface="Arial" panose="020B0604020202020204" pitchFamily="34" charset="0"/>
            </a:endParaRPr>
          </a:p>
        </p:txBody>
      </p:sp>
      <p:pic>
        <p:nvPicPr>
          <p:cNvPr id="3" name="Picture 2">
            <a:extLst>
              <a:ext uri="{FF2B5EF4-FFF2-40B4-BE49-F238E27FC236}">
                <a16:creationId xmlns:a16="http://schemas.microsoft.com/office/drawing/2014/main" id="{ACAB27B2-2888-E02B-5883-7389C2ED9AA2}"/>
              </a:ext>
            </a:extLst>
          </p:cNvPr>
          <p:cNvPicPr>
            <a:picLocks noChangeAspect="1"/>
          </p:cNvPicPr>
          <p:nvPr/>
        </p:nvPicPr>
        <p:blipFill>
          <a:blip r:embed="rId3"/>
          <a:stretch>
            <a:fillRect/>
          </a:stretch>
        </p:blipFill>
        <p:spPr>
          <a:xfrm>
            <a:off x="698086" y="1020863"/>
            <a:ext cx="3588068" cy="1550887"/>
          </a:xfrm>
          <a:prstGeom prst="rect">
            <a:avLst/>
          </a:prstGeom>
        </p:spPr>
      </p:pic>
      <p:pic>
        <p:nvPicPr>
          <p:cNvPr id="5" name="Picture 4">
            <a:extLst>
              <a:ext uri="{FF2B5EF4-FFF2-40B4-BE49-F238E27FC236}">
                <a16:creationId xmlns:a16="http://schemas.microsoft.com/office/drawing/2014/main" id="{2FC8A8AA-924F-D3AE-8580-222F1C1AD2FA}"/>
              </a:ext>
            </a:extLst>
          </p:cNvPr>
          <p:cNvPicPr>
            <a:picLocks noChangeAspect="1"/>
          </p:cNvPicPr>
          <p:nvPr/>
        </p:nvPicPr>
        <p:blipFill>
          <a:blip r:embed="rId4"/>
          <a:stretch>
            <a:fillRect/>
          </a:stretch>
        </p:blipFill>
        <p:spPr>
          <a:xfrm>
            <a:off x="698087" y="2727960"/>
            <a:ext cx="2243234" cy="484572"/>
          </a:xfrm>
          <a:prstGeom prst="rect">
            <a:avLst/>
          </a:prstGeom>
        </p:spPr>
      </p:pic>
      <p:pic>
        <p:nvPicPr>
          <p:cNvPr id="9" name="Picture 8">
            <a:extLst>
              <a:ext uri="{FF2B5EF4-FFF2-40B4-BE49-F238E27FC236}">
                <a16:creationId xmlns:a16="http://schemas.microsoft.com/office/drawing/2014/main" id="{DD4FE2A5-4049-629F-E537-C2DA666E509B}"/>
              </a:ext>
            </a:extLst>
          </p:cNvPr>
          <p:cNvPicPr>
            <a:picLocks noChangeAspect="1"/>
          </p:cNvPicPr>
          <p:nvPr/>
        </p:nvPicPr>
        <p:blipFill>
          <a:blip r:embed="rId5"/>
          <a:stretch>
            <a:fillRect/>
          </a:stretch>
        </p:blipFill>
        <p:spPr>
          <a:xfrm>
            <a:off x="4483417" y="1020863"/>
            <a:ext cx="3080307" cy="1002983"/>
          </a:xfrm>
          <a:prstGeom prst="rect">
            <a:avLst/>
          </a:prstGeom>
        </p:spPr>
      </p:pic>
      <p:pic>
        <p:nvPicPr>
          <p:cNvPr id="11" name="Picture 10">
            <a:extLst>
              <a:ext uri="{FF2B5EF4-FFF2-40B4-BE49-F238E27FC236}">
                <a16:creationId xmlns:a16="http://schemas.microsoft.com/office/drawing/2014/main" id="{B2511E78-FF02-BBDA-0D61-A2A9948C9608}"/>
              </a:ext>
            </a:extLst>
          </p:cNvPr>
          <p:cNvPicPr>
            <a:picLocks noChangeAspect="1"/>
          </p:cNvPicPr>
          <p:nvPr/>
        </p:nvPicPr>
        <p:blipFill>
          <a:blip r:embed="rId6"/>
          <a:stretch>
            <a:fillRect/>
          </a:stretch>
        </p:blipFill>
        <p:spPr>
          <a:xfrm>
            <a:off x="4483418" y="2153820"/>
            <a:ext cx="3113660" cy="1785720"/>
          </a:xfrm>
          <a:prstGeom prst="rect">
            <a:avLst/>
          </a:prstGeom>
        </p:spPr>
      </p:pic>
    </p:spTree>
    <p:extLst>
      <p:ext uri="{BB962C8B-B14F-4D97-AF65-F5344CB8AC3E}">
        <p14:creationId xmlns:p14="http://schemas.microsoft.com/office/powerpoint/2010/main" val="2600408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4"/>
        <p:cNvGrpSpPr/>
        <p:nvPr/>
      </p:nvGrpSpPr>
      <p:grpSpPr>
        <a:xfrm>
          <a:off x="0" y="0"/>
          <a:ext cx="0" cy="0"/>
          <a:chOff x="0" y="0"/>
          <a:chExt cx="0" cy="0"/>
        </a:xfrm>
      </p:grpSpPr>
      <p:sp>
        <p:nvSpPr>
          <p:cNvPr id="6" name="Google Shape;623;p73">
            <a:extLst>
              <a:ext uri="{FF2B5EF4-FFF2-40B4-BE49-F238E27FC236}">
                <a16:creationId xmlns:a16="http://schemas.microsoft.com/office/drawing/2014/main" id="{69C2DE64-CDAF-A051-B607-C5C5122959E3}"/>
              </a:ext>
            </a:extLst>
          </p:cNvPr>
          <p:cNvSpPr txBox="1">
            <a:spLocks/>
          </p:cNvSpPr>
          <p:nvPr/>
        </p:nvSpPr>
        <p:spPr>
          <a:xfrm>
            <a:off x="698086" y="894842"/>
            <a:ext cx="7747828" cy="33538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marR="0" algn="l">
              <a:lnSpc>
                <a:spcPct val="115000"/>
              </a:lnSpc>
              <a:spcBef>
                <a:spcPts val="0"/>
              </a:spcBef>
              <a:spcAft>
                <a:spcPts val="0"/>
              </a:spcAft>
            </a:pPr>
            <a:r>
              <a:rPr lang="ca-ES" sz="1800" b="1" i="1" dirty="0">
                <a:solidFill>
                  <a:srgbClr val="7B9B71"/>
                </a:solidFill>
                <a:latin typeface="Calibri" panose="020F0502020204030204" pitchFamily="34" charset="0"/>
                <a:ea typeface="Arial" panose="020B0604020202020204" pitchFamily="34" charset="0"/>
              </a:rPr>
              <a:t>Càlcul del punt mort</a:t>
            </a:r>
            <a:r>
              <a:rPr lang="ca-ES" sz="1800" b="1" i="1" dirty="0">
                <a:solidFill>
                  <a:srgbClr val="7B9B71"/>
                </a:solidFill>
                <a:effectLst/>
                <a:latin typeface="Calibri" panose="020F0502020204030204" pitchFamily="34" charset="0"/>
                <a:ea typeface="Arial" panose="020B0604020202020204" pitchFamily="34" charset="0"/>
              </a:rPr>
              <a:t>.</a:t>
            </a:r>
          </a:p>
          <a:p>
            <a:pPr marL="0" marR="0" algn="l">
              <a:lnSpc>
                <a:spcPct val="115000"/>
              </a:lnSpc>
              <a:spcBef>
                <a:spcPts val="0"/>
              </a:spcBef>
              <a:spcAft>
                <a:spcPts val="0"/>
              </a:spcAft>
            </a:pPr>
            <a:endParaRPr lang="en-US" dirty="0"/>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Cost fixe mensual: 7168€  </a:t>
            </a:r>
            <a:endParaRPr lang="en-US" sz="1200" dirty="0">
              <a:solidFill>
                <a:schemeClr val="tx1"/>
              </a:solidFill>
              <a:effectLst/>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Cost variable unitari: 12.88€ </a:t>
            </a:r>
          </a:p>
          <a:p>
            <a:pPr marL="0" marR="0" lvl="0" indent="0" algn="l">
              <a:lnSpc>
                <a:spcPct val="115000"/>
              </a:lnSpc>
              <a:spcBef>
                <a:spcPts val="0"/>
              </a:spcBef>
              <a:spcAft>
                <a:spcPts val="0"/>
              </a:spcAft>
            </a:pPr>
            <a:r>
              <a:rPr lang="ca-ES" sz="1200" i="1" dirty="0">
                <a:solidFill>
                  <a:schemeClr val="tx1"/>
                </a:solidFill>
                <a:effectLst/>
                <a:latin typeface="Calibri" panose="020F0502020204030204" pitchFamily="34" charset="0"/>
                <a:ea typeface="Arial" panose="020B0604020202020204" pitchFamily="34" charset="0"/>
              </a:rPr>
              <a:t>         (Amb un 0,6 de cost, pactat amb proveïdors)</a:t>
            </a:r>
            <a:endParaRPr lang="en-US" sz="1200" dirty="0">
              <a:solidFill>
                <a:schemeClr val="tx1"/>
              </a:solidFill>
              <a:effectLst/>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Preu de venda unitari 20€</a:t>
            </a:r>
            <a:endParaRPr lang="en-US" sz="1200" dirty="0">
              <a:solidFill>
                <a:schemeClr val="tx1"/>
              </a:solidFill>
              <a:effectLst/>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Cost total 7168€ + 12.88x</a:t>
            </a:r>
            <a:endParaRPr lang="en-US" sz="1200" dirty="0">
              <a:solidFill>
                <a:schemeClr val="tx1"/>
              </a:solidFill>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Ingrés total simplificat: 7.12x</a:t>
            </a:r>
            <a:endParaRPr lang="en-US" sz="1050" dirty="0">
              <a:solidFill>
                <a:schemeClr val="tx1"/>
              </a:solidFill>
            </a:endParaRPr>
          </a:p>
        </p:txBody>
      </p:sp>
      <p:pic>
        <p:nvPicPr>
          <p:cNvPr id="3" name="Picture 2">
            <a:extLst>
              <a:ext uri="{FF2B5EF4-FFF2-40B4-BE49-F238E27FC236}">
                <a16:creationId xmlns:a16="http://schemas.microsoft.com/office/drawing/2014/main" id="{9D7619FD-5B97-D87B-E936-A962551610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6700" y="1055529"/>
            <a:ext cx="4097015" cy="3032441"/>
          </a:xfrm>
          <a:prstGeom prst="rect">
            <a:avLst/>
          </a:prstGeom>
        </p:spPr>
      </p:pic>
    </p:spTree>
    <p:extLst>
      <p:ext uri="{BB962C8B-B14F-4D97-AF65-F5344CB8AC3E}">
        <p14:creationId xmlns:p14="http://schemas.microsoft.com/office/powerpoint/2010/main" val="1176155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4"/>
        <p:cNvGrpSpPr/>
        <p:nvPr/>
      </p:nvGrpSpPr>
      <p:grpSpPr>
        <a:xfrm>
          <a:off x="0" y="0"/>
          <a:ext cx="0" cy="0"/>
          <a:chOff x="0" y="0"/>
          <a:chExt cx="0" cy="0"/>
        </a:xfrm>
      </p:grpSpPr>
      <p:sp>
        <p:nvSpPr>
          <p:cNvPr id="6" name="Google Shape;623;p73">
            <a:extLst>
              <a:ext uri="{FF2B5EF4-FFF2-40B4-BE49-F238E27FC236}">
                <a16:creationId xmlns:a16="http://schemas.microsoft.com/office/drawing/2014/main" id="{69C2DE64-CDAF-A051-B607-C5C5122959E3}"/>
              </a:ext>
            </a:extLst>
          </p:cNvPr>
          <p:cNvSpPr txBox="1">
            <a:spLocks/>
          </p:cNvSpPr>
          <p:nvPr/>
        </p:nvSpPr>
        <p:spPr>
          <a:xfrm>
            <a:off x="698086" y="894842"/>
            <a:ext cx="7747828" cy="33538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marR="0" algn="l">
              <a:lnSpc>
                <a:spcPct val="115000"/>
              </a:lnSpc>
              <a:spcBef>
                <a:spcPts val="0"/>
              </a:spcBef>
              <a:spcAft>
                <a:spcPts val="0"/>
              </a:spcAft>
            </a:pPr>
            <a:r>
              <a:rPr lang="ca-ES" sz="1800" b="1" i="1" dirty="0">
                <a:solidFill>
                  <a:srgbClr val="7B9B71"/>
                </a:solidFill>
                <a:latin typeface="Calibri" panose="020F0502020204030204" pitchFamily="34" charset="0"/>
                <a:ea typeface="Arial" panose="020B0604020202020204" pitchFamily="34" charset="0"/>
              </a:rPr>
              <a:t>Càlcul del punt mort</a:t>
            </a:r>
            <a:r>
              <a:rPr lang="ca-ES" sz="1800" b="1" i="1" dirty="0">
                <a:solidFill>
                  <a:srgbClr val="7B9B71"/>
                </a:solidFill>
                <a:effectLst/>
                <a:latin typeface="Calibri" panose="020F0502020204030204" pitchFamily="34" charset="0"/>
                <a:ea typeface="Arial" panose="020B0604020202020204" pitchFamily="34" charset="0"/>
              </a:rPr>
              <a:t>.</a:t>
            </a:r>
          </a:p>
          <a:p>
            <a:pPr marL="0" marR="0" algn="l">
              <a:lnSpc>
                <a:spcPct val="115000"/>
              </a:lnSpc>
              <a:spcBef>
                <a:spcPts val="0"/>
              </a:spcBef>
              <a:spcAft>
                <a:spcPts val="0"/>
              </a:spcAft>
            </a:pPr>
            <a:endParaRPr lang="en-US" dirty="0"/>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Cost fixe mensual: 7168€  </a:t>
            </a:r>
            <a:endParaRPr lang="en-US" sz="1200" dirty="0">
              <a:solidFill>
                <a:schemeClr val="tx1"/>
              </a:solidFill>
              <a:effectLst/>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Cost variable unitari: 10€ </a:t>
            </a:r>
          </a:p>
          <a:p>
            <a:pPr marL="0" marR="0" lvl="0" indent="0" algn="l">
              <a:lnSpc>
                <a:spcPct val="115000"/>
              </a:lnSpc>
              <a:spcBef>
                <a:spcPts val="0"/>
              </a:spcBef>
              <a:spcAft>
                <a:spcPts val="0"/>
              </a:spcAft>
            </a:pPr>
            <a:r>
              <a:rPr lang="ca-ES" sz="1200" i="1" dirty="0">
                <a:solidFill>
                  <a:schemeClr val="tx1"/>
                </a:solidFill>
                <a:effectLst/>
                <a:latin typeface="Calibri" panose="020F0502020204030204" pitchFamily="34" charset="0"/>
                <a:ea typeface="Arial" panose="020B0604020202020204" pitchFamily="34" charset="0"/>
              </a:rPr>
              <a:t>         (Amb un </a:t>
            </a:r>
            <a:r>
              <a:rPr lang="ca-ES" sz="1200" b="1" i="1" dirty="0">
                <a:solidFill>
                  <a:srgbClr val="00B0F0"/>
                </a:solidFill>
                <a:effectLst/>
                <a:latin typeface="Calibri" panose="020F0502020204030204" pitchFamily="34" charset="0"/>
                <a:ea typeface="Arial" panose="020B0604020202020204" pitchFamily="34" charset="0"/>
              </a:rPr>
              <a:t>0,5</a:t>
            </a:r>
            <a:r>
              <a:rPr lang="ca-ES" sz="1200" i="1" dirty="0">
                <a:solidFill>
                  <a:srgbClr val="00B0F0"/>
                </a:solidFill>
                <a:effectLst/>
                <a:latin typeface="Calibri" panose="020F0502020204030204" pitchFamily="34" charset="0"/>
                <a:ea typeface="Arial" panose="020B0604020202020204" pitchFamily="34" charset="0"/>
              </a:rPr>
              <a:t> </a:t>
            </a:r>
            <a:r>
              <a:rPr lang="ca-ES" sz="1200" i="1" dirty="0">
                <a:solidFill>
                  <a:schemeClr val="tx1"/>
                </a:solidFill>
                <a:effectLst/>
                <a:latin typeface="Calibri" panose="020F0502020204030204" pitchFamily="34" charset="0"/>
                <a:ea typeface="Arial" panose="020B0604020202020204" pitchFamily="34" charset="0"/>
              </a:rPr>
              <a:t>de cost, pactat amb proveïdors)</a:t>
            </a:r>
            <a:endParaRPr lang="en-US" sz="1200" dirty="0">
              <a:solidFill>
                <a:schemeClr val="tx1"/>
              </a:solidFill>
              <a:effectLst/>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Preu de venda unitari 20€</a:t>
            </a:r>
            <a:endParaRPr lang="en-US" sz="1200" dirty="0">
              <a:solidFill>
                <a:schemeClr val="tx1"/>
              </a:solidFill>
              <a:effectLst/>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Cost total 7168€ + 12.88x</a:t>
            </a:r>
            <a:endParaRPr lang="en-US" sz="1200" dirty="0">
              <a:solidFill>
                <a:schemeClr val="tx1"/>
              </a:solidFill>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Ingrés total simplificat: 7.12x</a:t>
            </a:r>
            <a:endParaRPr lang="en-US" sz="1050" dirty="0">
              <a:solidFill>
                <a:schemeClr val="tx1"/>
              </a:solidFill>
            </a:endParaRPr>
          </a:p>
        </p:txBody>
      </p:sp>
      <p:pic>
        <p:nvPicPr>
          <p:cNvPr id="2" name="Picture 1">
            <a:extLst>
              <a:ext uri="{FF2B5EF4-FFF2-40B4-BE49-F238E27FC236}">
                <a16:creationId xmlns:a16="http://schemas.microsoft.com/office/drawing/2014/main" id="{9F64FF5F-8D9F-1CC5-FBCB-021AC9DCD8EF}"/>
              </a:ext>
            </a:extLst>
          </p:cNvPr>
          <p:cNvPicPr>
            <a:picLocks noChangeAspect="1"/>
          </p:cNvPicPr>
          <p:nvPr/>
        </p:nvPicPr>
        <p:blipFill>
          <a:blip r:embed="rId3"/>
          <a:stretch>
            <a:fillRect/>
          </a:stretch>
        </p:blipFill>
        <p:spPr>
          <a:xfrm>
            <a:off x="4231004" y="894842"/>
            <a:ext cx="4364894" cy="3463798"/>
          </a:xfrm>
          <a:prstGeom prst="rect">
            <a:avLst/>
          </a:prstGeom>
        </p:spPr>
      </p:pic>
    </p:spTree>
    <p:extLst>
      <p:ext uri="{BB962C8B-B14F-4D97-AF65-F5344CB8AC3E}">
        <p14:creationId xmlns:p14="http://schemas.microsoft.com/office/powerpoint/2010/main" val="17474756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4"/>
        <p:cNvGrpSpPr/>
        <p:nvPr/>
      </p:nvGrpSpPr>
      <p:grpSpPr>
        <a:xfrm>
          <a:off x="0" y="0"/>
          <a:ext cx="0" cy="0"/>
          <a:chOff x="0" y="0"/>
          <a:chExt cx="0" cy="0"/>
        </a:xfrm>
      </p:grpSpPr>
      <p:sp>
        <p:nvSpPr>
          <p:cNvPr id="6" name="Google Shape;623;p73">
            <a:extLst>
              <a:ext uri="{FF2B5EF4-FFF2-40B4-BE49-F238E27FC236}">
                <a16:creationId xmlns:a16="http://schemas.microsoft.com/office/drawing/2014/main" id="{69C2DE64-CDAF-A051-B607-C5C5122959E3}"/>
              </a:ext>
            </a:extLst>
          </p:cNvPr>
          <p:cNvSpPr txBox="1">
            <a:spLocks/>
          </p:cNvSpPr>
          <p:nvPr/>
        </p:nvSpPr>
        <p:spPr>
          <a:xfrm>
            <a:off x="698086" y="894842"/>
            <a:ext cx="7747828" cy="33538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marR="0" algn="l">
              <a:lnSpc>
                <a:spcPct val="115000"/>
              </a:lnSpc>
              <a:spcBef>
                <a:spcPts val="0"/>
              </a:spcBef>
              <a:spcAft>
                <a:spcPts val="0"/>
              </a:spcAft>
            </a:pPr>
            <a:r>
              <a:rPr lang="ca-ES" sz="1800" b="1" i="1" dirty="0">
                <a:solidFill>
                  <a:srgbClr val="7B9B71"/>
                </a:solidFill>
                <a:latin typeface="Calibri" panose="020F0502020204030204" pitchFamily="34" charset="0"/>
                <a:ea typeface="Arial" panose="020B0604020202020204" pitchFamily="34" charset="0"/>
              </a:rPr>
              <a:t>Càlcul del punt mort</a:t>
            </a:r>
            <a:r>
              <a:rPr lang="ca-ES" sz="1800" b="1" i="1" dirty="0">
                <a:solidFill>
                  <a:srgbClr val="7B9B71"/>
                </a:solidFill>
                <a:effectLst/>
                <a:latin typeface="Calibri" panose="020F0502020204030204" pitchFamily="34" charset="0"/>
                <a:ea typeface="Arial" panose="020B0604020202020204" pitchFamily="34" charset="0"/>
              </a:rPr>
              <a:t>.</a:t>
            </a:r>
          </a:p>
          <a:p>
            <a:pPr marL="0" marR="0" algn="l">
              <a:lnSpc>
                <a:spcPct val="115000"/>
              </a:lnSpc>
              <a:spcBef>
                <a:spcPts val="0"/>
              </a:spcBef>
              <a:spcAft>
                <a:spcPts val="0"/>
              </a:spcAft>
            </a:pPr>
            <a:endParaRPr lang="en-US" dirty="0"/>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Cost fixe mensual: 7168€  </a:t>
            </a:r>
            <a:endParaRPr lang="en-US" sz="1200" dirty="0">
              <a:solidFill>
                <a:schemeClr val="tx1"/>
              </a:solidFill>
              <a:effectLst/>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Cost variable unitari: </a:t>
            </a:r>
            <a:r>
              <a:rPr lang="ca-ES" sz="1200" i="1" dirty="0">
                <a:solidFill>
                  <a:schemeClr val="tx1"/>
                </a:solidFill>
                <a:latin typeface="Calibri" panose="020F0502020204030204" pitchFamily="34" charset="0"/>
                <a:ea typeface="Arial" panose="020B0604020202020204" pitchFamily="34" charset="0"/>
              </a:rPr>
              <a:t>8</a:t>
            </a:r>
            <a:r>
              <a:rPr lang="ca-ES" sz="1200" i="1" dirty="0">
                <a:solidFill>
                  <a:schemeClr val="tx1"/>
                </a:solidFill>
                <a:effectLst/>
                <a:latin typeface="Calibri" panose="020F0502020204030204" pitchFamily="34" charset="0"/>
                <a:ea typeface="Arial" panose="020B0604020202020204" pitchFamily="34" charset="0"/>
              </a:rPr>
              <a:t>€ </a:t>
            </a:r>
          </a:p>
          <a:p>
            <a:pPr marL="0" marR="0" lvl="0" indent="0" algn="l">
              <a:lnSpc>
                <a:spcPct val="115000"/>
              </a:lnSpc>
              <a:spcBef>
                <a:spcPts val="0"/>
              </a:spcBef>
              <a:spcAft>
                <a:spcPts val="0"/>
              </a:spcAft>
            </a:pPr>
            <a:r>
              <a:rPr lang="ca-ES" sz="1200" i="1" dirty="0">
                <a:solidFill>
                  <a:schemeClr val="tx1"/>
                </a:solidFill>
                <a:effectLst/>
                <a:latin typeface="Calibri" panose="020F0502020204030204" pitchFamily="34" charset="0"/>
                <a:ea typeface="Arial" panose="020B0604020202020204" pitchFamily="34" charset="0"/>
              </a:rPr>
              <a:t>         (Amb un </a:t>
            </a:r>
            <a:r>
              <a:rPr lang="ca-ES" sz="1200" b="1" i="1" dirty="0">
                <a:solidFill>
                  <a:srgbClr val="00B0F0"/>
                </a:solidFill>
                <a:effectLst/>
                <a:latin typeface="Calibri" panose="020F0502020204030204" pitchFamily="34" charset="0"/>
                <a:ea typeface="Arial" panose="020B0604020202020204" pitchFamily="34" charset="0"/>
              </a:rPr>
              <a:t>0,4</a:t>
            </a:r>
            <a:r>
              <a:rPr lang="ca-ES" sz="1200" i="1" dirty="0">
                <a:solidFill>
                  <a:schemeClr val="tx1"/>
                </a:solidFill>
                <a:effectLst/>
                <a:latin typeface="Calibri" panose="020F0502020204030204" pitchFamily="34" charset="0"/>
                <a:ea typeface="Arial" panose="020B0604020202020204" pitchFamily="34" charset="0"/>
              </a:rPr>
              <a:t> de cost, pactat amb proveïdors)</a:t>
            </a:r>
            <a:endParaRPr lang="en-US" sz="1200" dirty="0">
              <a:solidFill>
                <a:schemeClr val="tx1"/>
              </a:solidFill>
              <a:effectLst/>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Preu de venda unitari 20€</a:t>
            </a:r>
            <a:endParaRPr lang="en-US" sz="1200" dirty="0">
              <a:solidFill>
                <a:schemeClr val="tx1"/>
              </a:solidFill>
              <a:effectLst/>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Cost total 7168€ + 12.88x</a:t>
            </a:r>
            <a:endParaRPr lang="en-US" sz="1200" dirty="0">
              <a:solidFill>
                <a:schemeClr val="tx1"/>
              </a:solidFill>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Ingrés total simplificat: 7.12x</a:t>
            </a:r>
          </a:p>
          <a:p>
            <a:pPr marL="342900" marR="0" lvl="0" algn="l">
              <a:lnSpc>
                <a:spcPct val="115000"/>
              </a:lnSpc>
              <a:spcBef>
                <a:spcPts val="0"/>
              </a:spcBef>
              <a:spcAft>
                <a:spcPts val="0"/>
              </a:spcAft>
              <a:buFont typeface="+mj-lt"/>
              <a:buAutoNum type="alphaUcPeriod"/>
            </a:pPr>
            <a:endParaRPr lang="ca-ES" sz="1200" i="1" dirty="0">
              <a:solidFill>
                <a:schemeClr val="tx1"/>
              </a:solidFill>
              <a:latin typeface="Calibri" panose="020F0502020204030204" pitchFamily="34" charset="0"/>
            </a:endParaRPr>
          </a:p>
          <a:p>
            <a:pPr marL="342900" marR="0" lvl="0" algn="l">
              <a:lnSpc>
                <a:spcPct val="115000"/>
              </a:lnSpc>
              <a:spcBef>
                <a:spcPts val="0"/>
              </a:spcBef>
              <a:spcAft>
                <a:spcPts val="0"/>
              </a:spcAft>
              <a:buFont typeface="+mj-lt"/>
              <a:buAutoNum type="alphaUcPeriod"/>
            </a:pPr>
            <a:endParaRPr lang="ca-ES" sz="1200" i="1" dirty="0">
              <a:solidFill>
                <a:schemeClr val="tx1"/>
              </a:solidFill>
              <a:latin typeface="Calibri" panose="020F0502020204030204" pitchFamily="34" charset="0"/>
            </a:endParaRPr>
          </a:p>
          <a:p>
            <a:pPr marL="0" marR="0" lvl="0" indent="0" algn="l">
              <a:lnSpc>
                <a:spcPct val="115000"/>
              </a:lnSpc>
              <a:spcBef>
                <a:spcPts val="0"/>
              </a:spcBef>
              <a:spcAft>
                <a:spcPts val="0"/>
              </a:spcAft>
            </a:pPr>
            <a:r>
              <a:rPr lang="ca-ES" sz="1200" i="1" dirty="0">
                <a:solidFill>
                  <a:schemeClr val="tx1"/>
                </a:solidFill>
                <a:latin typeface="Calibri" panose="020F0502020204030204" pitchFamily="34" charset="0"/>
              </a:rPr>
              <a:t>Amb 1000 unitats venudes I = 2500€ (30K anuals)</a:t>
            </a:r>
          </a:p>
          <a:p>
            <a:pPr marL="0" marR="0" lvl="0" indent="0" algn="l">
              <a:lnSpc>
                <a:spcPct val="115000"/>
              </a:lnSpc>
              <a:spcBef>
                <a:spcPts val="0"/>
              </a:spcBef>
              <a:spcAft>
                <a:spcPts val="0"/>
              </a:spcAft>
            </a:pPr>
            <a:r>
              <a:rPr lang="ca-ES" sz="1200" i="1" dirty="0">
                <a:solidFill>
                  <a:schemeClr val="tx1"/>
                </a:solidFill>
                <a:latin typeface="Calibri" panose="020F0502020204030204" pitchFamily="34" charset="0"/>
              </a:rPr>
              <a:t>Sou empresaris mensual = 4k</a:t>
            </a:r>
            <a:endParaRPr lang="en-US" sz="1050" dirty="0">
              <a:solidFill>
                <a:schemeClr val="tx1"/>
              </a:solidFill>
            </a:endParaRPr>
          </a:p>
        </p:txBody>
      </p:sp>
      <p:pic>
        <p:nvPicPr>
          <p:cNvPr id="3" name="Picture 2">
            <a:extLst>
              <a:ext uri="{FF2B5EF4-FFF2-40B4-BE49-F238E27FC236}">
                <a16:creationId xmlns:a16="http://schemas.microsoft.com/office/drawing/2014/main" id="{F90C67C3-B217-9C08-B370-155EE7F6C5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9573" y="894842"/>
            <a:ext cx="4293052" cy="3353816"/>
          </a:xfrm>
          <a:prstGeom prst="rect">
            <a:avLst/>
          </a:prstGeom>
        </p:spPr>
      </p:pic>
    </p:spTree>
    <p:extLst>
      <p:ext uri="{BB962C8B-B14F-4D97-AF65-F5344CB8AC3E}">
        <p14:creationId xmlns:p14="http://schemas.microsoft.com/office/powerpoint/2010/main" val="9813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4"/>
        <p:cNvGrpSpPr/>
        <p:nvPr/>
      </p:nvGrpSpPr>
      <p:grpSpPr>
        <a:xfrm>
          <a:off x="0" y="0"/>
          <a:ext cx="0" cy="0"/>
          <a:chOff x="0" y="0"/>
          <a:chExt cx="0" cy="0"/>
        </a:xfrm>
      </p:grpSpPr>
      <p:sp>
        <p:nvSpPr>
          <p:cNvPr id="6" name="Google Shape;623;p73">
            <a:extLst>
              <a:ext uri="{FF2B5EF4-FFF2-40B4-BE49-F238E27FC236}">
                <a16:creationId xmlns:a16="http://schemas.microsoft.com/office/drawing/2014/main" id="{69C2DE64-CDAF-A051-B607-C5C5122959E3}"/>
              </a:ext>
            </a:extLst>
          </p:cNvPr>
          <p:cNvSpPr txBox="1">
            <a:spLocks/>
          </p:cNvSpPr>
          <p:nvPr/>
        </p:nvSpPr>
        <p:spPr>
          <a:xfrm>
            <a:off x="698086" y="894842"/>
            <a:ext cx="7747828" cy="33538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marR="0" algn="l">
              <a:lnSpc>
                <a:spcPct val="115000"/>
              </a:lnSpc>
              <a:spcBef>
                <a:spcPts val="0"/>
              </a:spcBef>
              <a:spcAft>
                <a:spcPts val="0"/>
              </a:spcAft>
            </a:pPr>
            <a:r>
              <a:rPr lang="ca-ES" sz="1800" b="1" i="1" dirty="0">
                <a:solidFill>
                  <a:srgbClr val="7B9B71"/>
                </a:solidFill>
                <a:latin typeface="Calibri" panose="020F0502020204030204" pitchFamily="34" charset="0"/>
                <a:ea typeface="Arial" panose="020B0604020202020204" pitchFamily="34" charset="0"/>
              </a:rPr>
              <a:t>Càlcul del punt mort</a:t>
            </a:r>
            <a:r>
              <a:rPr lang="ca-ES" sz="1800" b="1" i="1" dirty="0">
                <a:solidFill>
                  <a:srgbClr val="7B9B71"/>
                </a:solidFill>
                <a:effectLst/>
                <a:latin typeface="Calibri" panose="020F0502020204030204" pitchFamily="34" charset="0"/>
                <a:ea typeface="Arial" panose="020B0604020202020204" pitchFamily="34" charset="0"/>
              </a:rPr>
              <a:t>.</a:t>
            </a:r>
          </a:p>
          <a:p>
            <a:pPr marL="0" marR="0" algn="l">
              <a:lnSpc>
                <a:spcPct val="115000"/>
              </a:lnSpc>
              <a:spcBef>
                <a:spcPts val="0"/>
              </a:spcBef>
              <a:spcAft>
                <a:spcPts val="0"/>
              </a:spcAft>
            </a:pPr>
            <a:endParaRPr lang="en-US" dirty="0"/>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Cost fixe mensual: </a:t>
            </a:r>
            <a:r>
              <a:rPr lang="ca-ES" sz="1200" b="1" i="1" dirty="0">
                <a:solidFill>
                  <a:srgbClr val="92D050"/>
                </a:solidFill>
                <a:latin typeface="Calibri" panose="020F0502020204030204" pitchFamily="34" charset="0"/>
                <a:ea typeface="Arial" panose="020B0604020202020204" pitchFamily="34" charset="0"/>
              </a:rPr>
              <a:t>3.260</a:t>
            </a:r>
            <a:r>
              <a:rPr lang="ca-ES" sz="1200" b="1" i="1" dirty="0">
                <a:solidFill>
                  <a:srgbClr val="92D050"/>
                </a:solidFill>
                <a:effectLst/>
                <a:latin typeface="Calibri" panose="020F0502020204030204" pitchFamily="34" charset="0"/>
                <a:ea typeface="Arial" panose="020B0604020202020204" pitchFamily="34" charset="0"/>
              </a:rPr>
              <a:t>€  </a:t>
            </a:r>
            <a:endParaRPr lang="en-US" sz="1200" b="1" dirty="0">
              <a:solidFill>
                <a:srgbClr val="92D050"/>
              </a:solidFill>
              <a:effectLst/>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Cost variable unitari: </a:t>
            </a:r>
            <a:r>
              <a:rPr lang="ca-ES" sz="1200" i="1" dirty="0">
                <a:solidFill>
                  <a:schemeClr val="tx1"/>
                </a:solidFill>
                <a:latin typeface="Calibri" panose="020F0502020204030204" pitchFamily="34" charset="0"/>
                <a:ea typeface="Arial" panose="020B0604020202020204" pitchFamily="34" charset="0"/>
              </a:rPr>
              <a:t>8</a:t>
            </a:r>
            <a:r>
              <a:rPr lang="ca-ES" sz="1200" i="1" dirty="0">
                <a:solidFill>
                  <a:schemeClr val="tx1"/>
                </a:solidFill>
                <a:effectLst/>
                <a:latin typeface="Calibri" panose="020F0502020204030204" pitchFamily="34" charset="0"/>
                <a:ea typeface="Arial" panose="020B0604020202020204" pitchFamily="34" charset="0"/>
              </a:rPr>
              <a:t>€ </a:t>
            </a:r>
          </a:p>
          <a:p>
            <a:pPr marL="0" marR="0" lvl="0" indent="0" algn="l">
              <a:lnSpc>
                <a:spcPct val="115000"/>
              </a:lnSpc>
              <a:spcBef>
                <a:spcPts val="0"/>
              </a:spcBef>
              <a:spcAft>
                <a:spcPts val="0"/>
              </a:spcAft>
            </a:pPr>
            <a:r>
              <a:rPr lang="ca-ES" sz="1200" i="1" dirty="0">
                <a:solidFill>
                  <a:schemeClr val="tx1"/>
                </a:solidFill>
                <a:effectLst/>
                <a:latin typeface="Calibri" panose="020F0502020204030204" pitchFamily="34" charset="0"/>
                <a:ea typeface="Arial" panose="020B0604020202020204" pitchFamily="34" charset="0"/>
              </a:rPr>
              <a:t>         (Amb un</a:t>
            </a:r>
            <a:r>
              <a:rPr lang="ca-ES" sz="1200" i="1" dirty="0">
                <a:solidFill>
                  <a:srgbClr val="92D050"/>
                </a:solidFill>
                <a:effectLst/>
                <a:latin typeface="Calibri" panose="020F0502020204030204" pitchFamily="34" charset="0"/>
                <a:ea typeface="Arial" panose="020B0604020202020204" pitchFamily="34" charset="0"/>
              </a:rPr>
              <a:t> </a:t>
            </a:r>
            <a:r>
              <a:rPr lang="ca-ES" sz="1200" b="1" i="1" dirty="0">
                <a:solidFill>
                  <a:srgbClr val="92D050"/>
                </a:solidFill>
                <a:effectLst/>
                <a:latin typeface="Calibri" panose="020F0502020204030204" pitchFamily="34" charset="0"/>
                <a:ea typeface="Arial" panose="020B0604020202020204" pitchFamily="34" charset="0"/>
              </a:rPr>
              <a:t>0,4</a:t>
            </a:r>
            <a:r>
              <a:rPr lang="ca-ES" sz="1200" i="1" dirty="0">
                <a:solidFill>
                  <a:srgbClr val="92D050"/>
                </a:solidFill>
                <a:effectLst/>
                <a:latin typeface="Calibri" panose="020F0502020204030204" pitchFamily="34" charset="0"/>
                <a:ea typeface="Arial" panose="020B0604020202020204" pitchFamily="34" charset="0"/>
              </a:rPr>
              <a:t> </a:t>
            </a:r>
            <a:r>
              <a:rPr lang="ca-ES" sz="1200" i="1" dirty="0">
                <a:solidFill>
                  <a:schemeClr val="tx1"/>
                </a:solidFill>
                <a:effectLst/>
                <a:latin typeface="Calibri" panose="020F0502020204030204" pitchFamily="34" charset="0"/>
                <a:ea typeface="Arial" panose="020B0604020202020204" pitchFamily="34" charset="0"/>
              </a:rPr>
              <a:t>de cost, pactat amb proveïdors)</a:t>
            </a:r>
            <a:endParaRPr lang="en-US" sz="1200" dirty="0">
              <a:solidFill>
                <a:schemeClr val="tx1"/>
              </a:solidFill>
              <a:effectLst/>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Preu de venda unitari 20€</a:t>
            </a:r>
            <a:endParaRPr lang="en-US" sz="1200" dirty="0">
              <a:solidFill>
                <a:schemeClr val="tx1"/>
              </a:solidFill>
              <a:effectLst/>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Cost total 7168€ + 12.88x</a:t>
            </a:r>
            <a:endParaRPr lang="en-US" sz="1200" dirty="0">
              <a:solidFill>
                <a:schemeClr val="tx1"/>
              </a:solidFill>
              <a:latin typeface="Arial" panose="020B0604020202020204" pitchFamily="34" charset="0"/>
              <a:ea typeface="Arial" panose="020B0604020202020204" pitchFamily="34" charset="0"/>
            </a:endParaRPr>
          </a:p>
          <a:p>
            <a:pPr marL="342900" marR="0" lvl="0" algn="l">
              <a:lnSpc>
                <a:spcPct val="115000"/>
              </a:lnSpc>
              <a:spcBef>
                <a:spcPts val="0"/>
              </a:spcBef>
              <a:spcAft>
                <a:spcPts val="0"/>
              </a:spcAft>
              <a:buFont typeface="+mj-lt"/>
              <a:buAutoNum type="alphaUcPeriod"/>
            </a:pPr>
            <a:r>
              <a:rPr lang="ca-ES" sz="1200" i="1" dirty="0">
                <a:solidFill>
                  <a:schemeClr val="tx1"/>
                </a:solidFill>
                <a:effectLst/>
                <a:latin typeface="Calibri" panose="020F0502020204030204" pitchFamily="34" charset="0"/>
                <a:ea typeface="Arial" panose="020B0604020202020204" pitchFamily="34" charset="0"/>
              </a:rPr>
              <a:t>Ingrés total simplificat: 7.12x</a:t>
            </a:r>
          </a:p>
          <a:p>
            <a:pPr marL="342900" marR="0" lvl="0" algn="l">
              <a:lnSpc>
                <a:spcPct val="115000"/>
              </a:lnSpc>
              <a:spcBef>
                <a:spcPts val="0"/>
              </a:spcBef>
              <a:spcAft>
                <a:spcPts val="0"/>
              </a:spcAft>
              <a:buFont typeface="+mj-lt"/>
              <a:buAutoNum type="alphaUcPeriod"/>
            </a:pPr>
            <a:endParaRPr lang="ca-ES" sz="1200" i="1" dirty="0">
              <a:solidFill>
                <a:schemeClr val="tx1"/>
              </a:solidFill>
              <a:latin typeface="Calibri" panose="020F0502020204030204" pitchFamily="34" charset="0"/>
            </a:endParaRPr>
          </a:p>
          <a:p>
            <a:pPr marL="342900" marR="0" lvl="0" algn="l">
              <a:lnSpc>
                <a:spcPct val="115000"/>
              </a:lnSpc>
              <a:spcBef>
                <a:spcPts val="0"/>
              </a:spcBef>
              <a:spcAft>
                <a:spcPts val="0"/>
              </a:spcAft>
              <a:buFont typeface="+mj-lt"/>
              <a:buAutoNum type="alphaUcPeriod"/>
            </a:pPr>
            <a:endParaRPr lang="ca-ES" sz="1200" i="1" dirty="0">
              <a:solidFill>
                <a:schemeClr val="tx1"/>
              </a:solidFill>
              <a:latin typeface="Calibri" panose="020F0502020204030204" pitchFamily="34" charset="0"/>
            </a:endParaRPr>
          </a:p>
          <a:p>
            <a:pPr marL="0" marR="0" lvl="0" indent="0" algn="l">
              <a:lnSpc>
                <a:spcPct val="115000"/>
              </a:lnSpc>
              <a:spcBef>
                <a:spcPts val="0"/>
              </a:spcBef>
              <a:spcAft>
                <a:spcPts val="0"/>
              </a:spcAft>
            </a:pPr>
            <a:r>
              <a:rPr lang="ca-ES" sz="1200" i="1" dirty="0">
                <a:solidFill>
                  <a:schemeClr val="tx1"/>
                </a:solidFill>
                <a:latin typeface="Calibri" panose="020F0502020204030204" pitchFamily="34" charset="0"/>
              </a:rPr>
              <a:t>Amb 1000 unitats venudes I = 6420€ (77K anuals)</a:t>
            </a:r>
          </a:p>
          <a:p>
            <a:pPr marL="0" marR="0" lvl="0" indent="0" algn="l">
              <a:lnSpc>
                <a:spcPct val="115000"/>
              </a:lnSpc>
              <a:spcBef>
                <a:spcPts val="0"/>
              </a:spcBef>
              <a:spcAft>
                <a:spcPts val="0"/>
              </a:spcAft>
            </a:pPr>
            <a:r>
              <a:rPr lang="ca-ES" sz="1200" i="1" dirty="0">
                <a:solidFill>
                  <a:schemeClr val="tx1"/>
                </a:solidFill>
                <a:latin typeface="Calibri" panose="020F0502020204030204" pitchFamily="34" charset="0"/>
              </a:rPr>
              <a:t>Sou empresaris mensual = </a:t>
            </a:r>
            <a:r>
              <a:rPr lang="ca-ES" sz="1200" b="1" i="1" dirty="0">
                <a:solidFill>
                  <a:srgbClr val="92D050"/>
                </a:solidFill>
                <a:latin typeface="Calibri" panose="020F0502020204030204" pitchFamily="34" charset="0"/>
              </a:rPr>
              <a:t>0k</a:t>
            </a:r>
            <a:endParaRPr lang="en-US" sz="1050" b="1" dirty="0">
              <a:solidFill>
                <a:srgbClr val="92D050"/>
              </a:solidFill>
            </a:endParaRPr>
          </a:p>
        </p:txBody>
      </p:sp>
      <p:pic>
        <p:nvPicPr>
          <p:cNvPr id="4" name="Picture 3">
            <a:extLst>
              <a:ext uri="{FF2B5EF4-FFF2-40B4-BE49-F238E27FC236}">
                <a16:creationId xmlns:a16="http://schemas.microsoft.com/office/drawing/2014/main" id="{4FCFB0AD-EE39-9FCE-5284-B0647A42710B}"/>
              </a:ext>
            </a:extLst>
          </p:cNvPr>
          <p:cNvPicPr>
            <a:picLocks noChangeAspect="1"/>
          </p:cNvPicPr>
          <p:nvPr/>
        </p:nvPicPr>
        <p:blipFill>
          <a:blip r:embed="rId3"/>
          <a:stretch>
            <a:fillRect/>
          </a:stretch>
        </p:blipFill>
        <p:spPr>
          <a:xfrm>
            <a:off x="4227282" y="894842"/>
            <a:ext cx="4009886" cy="3154680"/>
          </a:xfrm>
          <a:prstGeom prst="rect">
            <a:avLst/>
          </a:prstGeom>
        </p:spPr>
      </p:pic>
    </p:spTree>
    <p:extLst>
      <p:ext uri="{BB962C8B-B14F-4D97-AF65-F5344CB8AC3E}">
        <p14:creationId xmlns:p14="http://schemas.microsoft.com/office/powerpoint/2010/main" val="2781338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pic>
        <p:nvPicPr>
          <p:cNvPr id="2" name="Picture 1">
            <a:extLst>
              <a:ext uri="{FF2B5EF4-FFF2-40B4-BE49-F238E27FC236}">
                <a16:creationId xmlns:a16="http://schemas.microsoft.com/office/drawing/2014/main" id="{48C281C4-C4B1-2DA6-83D6-0357505F8FD0}"/>
              </a:ext>
            </a:extLst>
          </p:cNvPr>
          <p:cNvPicPr>
            <a:picLocks noChangeAspect="1"/>
          </p:cNvPicPr>
          <p:nvPr/>
        </p:nvPicPr>
        <p:blipFill>
          <a:blip r:embed="rId3"/>
          <a:stretch>
            <a:fillRect/>
          </a:stretch>
        </p:blipFill>
        <p:spPr>
          <a:xfrm>
            <a:off x="359591" y="960969"/>
            <a:ext cx="6248399" cy="3512055"/>
          </a:xfrm>
          <a:prstGeom prst="rect">
            <a:avLst/>
          </a:prstGeom>
        </p:spPr>
      </p:pic>
      <p:sp>
        <p:nvSpPr>
          <p:cNvPr id="9" name="Title 1">
            <a:extLst>
              <a:ext uri="{FF2B5EF4-FFF2-40B4-BE49-F238E27FC236}">
                <a16:creationId xmlns:a16="http://schemas.microsoft.com/office/drawing/2014/main" id="{6906476E-B39E-9270-1FCB-C87FC2F600A6}"/>
              </a:ext>
            </a:extLst>
          </p:cNvPr>
          <p:cNvSpPr>
            <a:spLocks noGrp="1"/>
          </p:cNvSpPr>
          <p:nvPr>
            <p:ph type="title"/>
          </p:nvPr>
        </p:nvSpPr>
        <p:spPr>
          <a:xfrm>
            <a:off x="998220" y="458798"/>
            <a:ext cx="7304870" cy="554400"/>
          </a:xfrm>
        </p:spPr>
        <p:txBody>
          <a:bodyPr/>
          <a:lstStyle/>
          <a:p>
            <a:r>
              <a:rPr lang="en-US" sz="2400" dirty="0" err="1">
                <a:solidFill>
                  <a:srgbClr val="7B9B71"/>
                </a:solidFill>
              </a:rPr>
              <a:t>Creació</a:t>
            </a:r>
            <a:r>
              <a:rPr lang="en-US" sz="2400" dirty="0">
                <a:solidFill>
                  <a:srgbClr val="7B9B71"/>
                </a:solidFill>
              </a:rPr>
              <a:t> de la </a:t>
            </a:r>
            <a:r>
              <a:rPr lang="en-US" sz="2400" dirty="0" err="1">
                <a:solidFill>
                  <a:srgbClr val="7B9B71"/>
                </a:solidFill>
              </a:rPr>
              <a:t>pàgina</a:t>
            </a:r>
            <a:r>
              <a:rPr lang="en-US" sz="2400" dirty="0">
                <a:solidFill>
                  <a:srgbClr val="7B9B71"/>
                </a:solidFill>
              </a:rPr>
              <a:t> web</a:t>
            </a:r>
          </a:p>
        </p:txBody>
      </p:sp>
      <p:pic>
        <p:nvPicPr>
          <p:cNvPr id="29" name="Picture 28">
            <a:extLst>
              <a:ext uri="{FF2B5EF4-FFF2-40B4-BE49-F238E27FC236}">
                <a16:creationId xmlns:a16="http://schemas.microsoft.com/office/drawing/2014/main" id="{2C6AFC40-395F-355A-F34E-F419566DE35B}"/>
              </a:ext>
            </a:extLst>
          </p:cNvPr>
          <p:cNvPicPr>
            <a:picLocks noChangeAspect="1"/>
          </p:cNvPicPr>
          <p:nvPr/>
        </p:nvPicPr>
        <p:blipFill>
          <a:blip r:embed="rId4"/>
          <a:stretch>
            <a:fillRect/>
          </a:stretch>
        </p:blipFill>
        <p:spPr>
          <a:xfrm>
            <a:off x="3741000" y="2327037"/>
            <a:ext cx="5253866" cy="2439393"/>
          </a:xfrm>
          <a:prstGeom prst="rect">
            <a:avLst/>
          </a:prstGeom>
        </p:spPr>
      </p:pic>
    </p:spTree>
    <p:extLst>
      <p:ext uri="{BB962C8B-B14F-4D97-AF65-F5344CB8AC3E}">
        <p14:creationId xmlns:p14="http://schemas.microsoft.com/office/powerpoint/2010/main" val="879702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pic>
        <p:nvPicPr>
          <p:cNvPr id="3" name="Picture 2">
            <a:extLst>
              <a:ext uri="{FF2B5EF4-FFF2-40B4-BE49-F238E27FC236}">
                <a16:creationId xmlns:a16="http://schemas.microsoft.com/office/drawing/2014/main" id="{A722C0F7-F9A9-A21F-BB61-C5C3F0874FE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40137" y="624841"/>
            <a:ext cx="3179643" cy="17881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94" name="Google Shape;494;p61"/>
          <p:cNvSpPr txBox="1">
            <a:spLocks noGrp="1"/>
          </p:cNvSpPr>
          <p:nvPr>
            <p:ph type="title"/>
          </p:nvPr>
        </p:nvSpPr>
        <p:spPr>
          <a:xfrm>
            <a:off x="492245" y="787924"/>
            <a:ext cx="3294896" cy="373073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i="1" dirty="0">
                <a:solidFill>
                  <a:srgbClr val="7B9B71"/>
                </a:solidFill>
              </a:rPr>
              <a:t>Diagrama d’especificació</a:t>
            </a:r>
            <a:br>
              <a:rPr lang="en" i="1" dirty="0">
                <a:solidFill>
                  <a:srgbClr val="7B9B71"/>
                </a:solidFill>
              </a:rPr>
            </a:br>
            <a:br>
              <a:rPr lang="en" i="1" dirty="0">
                <a:solidFill>
                  <a:srgbClr val="7B9B71"/>
                </a:solidFill>
              </a:rPr>
            </a:br>
            <a:r>
              <a:rPr lang="en" i="1" dirty="0">
                <a:solidFill>
                  <a:srgbClr val="7B9B71"/>
                </a:solidFill>
              </a:rPr>
              <a:t>Diagrama de disseny</a:t>
            </a:r>
            <a:br>
              <a:rPr lang="en" i="1" dirty="0">
                <a:solidFill>
                  <a:srgbClr val="7B9B71"/>
                </a:solidFill>
              </a:rPr>
            </a:br>
            <a:br>
              <a:rPr lang="en" i="1" dirty="0">
                <a:solidFill>
                  <a:srgbClr val="7B9B71"/>
                </a:solidFill>
              </a:rPr>
            </a:br>
            <a:r>
              <a:rPr lang="en" i="1" dirty="0">
                <a:solidFill>
                  <a:srgbClr val="7B9B71"/>
                </a:solidFill>
              </a:rPr>
              <a:t>Esquema Relacional</a:t>
            </a:r>
            <a:endParaRPr i="1" dirty="0">
              <a:solidFill>
                <a:srgbClr val="7B9B71"/>
              </a:solidFill>
            </a:endParaRPr>
          </a:p>
        </p:txBody>
      </p:sp>
      <p:pic>
        <p:nvPicPr>
          <p:cNvPr id="2" name="Picture 1">
            <a:extLst>
              <a:ext uri="{FF2B5EF4-FFF2-40B4-BE49-F238E27FC236}">
                <a16:creationId xmlns:a16="http://schemas.microsoft.com/office/drawing/2014/main" id="{01F17BCF-7B42-0541-8E42-20A985E3EA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1831340"/>
            <a:ext cx="3237591" cy="16562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78A99F49-320C-0017-0058-D57F087A177C}"/>
              </a:ext>
            </a:extLst>
          </p:cNvPr>
          <p:cNvPicPr>
            <a:picLocks noChangeAspect="1"/>
          </p:cNvPicPr>
          <p:nvPr/>
        </p:nvPicPr>
        <p:blipFill>
          <a:blip r:embed="rId5"/>
          <a:stretch>
            <a:fillRect/>
          </a:stretch>
        </p:blipFill>
        <p:spPr>
          <a:xfrm>
            <a:off x="6447129" y="3058161"/>
            <a:ext cx="2204626" cy="157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8439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Esquema</a:t>
            </a:r>
            <a:endParaRPr dirty="0"/>
          </a:p>
        </p:txBody>
      </p:sp>
      <p:pic>
        <p:nvPicPr>
          <p:cNvPr id="19" name="Picture 18">
            <a:extLst>
              <a:ext uri="{FF2B5EF4-FFF2-40B4-BE49-F238E27FC236}">
                <a16:creationId xmlns:a16="http://schemas.microsoft.com/office/drawing/2014/main" id="{6537ED4C-B8C9-9F22-5A30-FD66AB7A92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 y="302423"/>
            <a:ext cx="8923020" cy="4564818"/>
          </a:xfrm>
          <a:prstGeom prst="rect">
            <a:avLst/>
          </a:prstGeom>
        </p:spPr>
      </p:pic>
      <p:pic>
        <p:nvPicPr>
          <p:cNvPr id="20" name="Picture 19">
            <a:extLst>
              <a:ext uri="{FF2B5EF4-FFF2-40B4-BE49-F238E27FC236}">
                <a16:creationId xmlns:a16="http://schemas.microsoft.com/office/drawing/2014/main" id="{9D40CF8B-73F8-162C-73E3-D7114B1237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61760" y="3897313"/>
            <a:ext cx="2209800" cy="549275"/>
          </a:xfrm>
          <a:prstGeom prst="rect">
            <a:avLst/>
          </a:prstGeom>
        </p:spPr>
      </p:pic>
    </p:spTree>
    <p:extLst>
      <p:ext uri="{BB962C8B-B14F-4D97-AF65-F5344CB8AC3E}">
        <p14:creationId xmlns:p14="http://schemas.microsoft.com/office/powerpoint/2010/main" val="538028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4" y="445025"/>
            <a:ext cx="832409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Sistema de </a:t>
            </a:r>
            <a:r>
              <a:rPr lang="es-ES" dirty="0" err="1"/>
              <a:t>fidelització</a:t>
            </a:r>
            <a:r>
              <a:rPr lang="es-ES" dirty="0"/>
              <a:t> </a:t>
            </a:r>
            <a:r>
              <a:rPr lang="es-ES" dirty="0" err="1"/>
              <a:t>amb</a:t>
            </a:r>
            <a:r>
              <a:rPr lang="es-ES" dirty="0"/>
              <a:t> </a:t>
            </a:r>
            <a:r>
              <a:rPr lang="es-ES" dirty="0" err="1"/>
              <a:t>punts</a:t>
            </a:r>
            <a:r>
              <a:rPr lang="es-ES" dirty="0"/>
              <a:t> i </a:t>
            </a:r>
            <a:r>
              <a:rPr lang="es-ES" dirty="0" err="1"/>
              <a:t>descomptes</a:t>
            </a:r>
            <a:endParaRPr lang="en-US" dirty="0"/>
          </a:p>
        </p:txBody>
      </p:sp>
      <p:pic>
        <p:nvPicPr>
          <p:cNvPr id="2" name="Picture 1">
            <a:extLst>
              <a:ext uri="{FF2B5EF4-FFF2-40B4-BE49-F238E27FC236}">
                <a16:creationId xmlns:a16="http://schemas.microsoft.com/office/drawing/2014/main" id="{659B3950-279D-D5FB-A576-919FFE98D2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083" y="1333819"/>
            <a:ext cx="4711961" cy="3024821"/>
          </a:xfrm>
          <a:prstGeom prst="rect">
            <a:avLst/>
          </a:prstGeom>
        </p:spPr>
      </p:pic>
      <p:pic>
        <p:nvPicPr>
          <p:cNvPr id="4" name="Picture 3">
            <a:extLst>
              <a:ext uri="{FF2B5EF4-FFF2-40B4-BE49-F238E27FC236}">
                <a16:creationId xmlns:a16="http://schemas.microsoft.com/office/drawing/2014/main" id="{2CFC24BC-34A5-0351-62B4-91A6FA97998B}"/>
              </a:ext>
            </a:extLst>
          </p:cNvPr>
          <p:cNvPicPr>
            <a:picLocks noChangeAspect="1"/>
          </p:cNvPicPr>
          <p:nvPr/>
        </p:nvPicPr>
        <p:blipFill>
          <a:blip r:embed="rId4"/>
          <a:stretch>
            <a:fillRect/>
          </a:stretch>
        </p:blipFill>
        <p:spPr>
          <a:xfrm>
            <a:off x="5289071" y="1333819"/>
            <a:ext cx="3141705" cy="861060"/>
          </a:xfrm>
          <a:prstGeom prst="rect">
            <a:avLst/>
          </a:prstGeom>
        </p:spPr>
      </p:pic>
      <p:pic>
        <p:nvPicPr>
          <p:cNvPr id="5" name="Picture 4">
            <a:extLst>
              <a:ext uri="{FF2B5EF4-FFF2-40B4-BE49-F238E27FC236}">
                <a16:creationId xmlns:a16="http://schemas.microsoft.com/office/drawing/2014/main" id="{8FC7DF5F-6D16-CD38-D05B-2205A62B427D}"/>
              </a:ext>
            </a:extLst>
          </p:cNvPr>
          <p:cNvPicPr>
            <a:picLocks noChangeAspect="1"/>
          </p:cNvPicPr>
          <p:nvPr/>
        </p:nvPicPr>
        <p:blipFill>
          <a:blip r:embed="rId5"/>
          <a:stretch>
            <a:fillRect/>
          </a:stretch>
        </p:blipFill>
        <p:spPr>
          <a:xfrm>
            <a:off x="5571011" y="2263885"/>
            <a:ext cx="2644468" cy="2434590"/>
          </a:xfrm>
          <a:prstGeom prst="rect">
            <a:avLst/>
          </a:prstGeom>
        </p:spPr>
      </p:pic>
    </p:spTree>
    <p:extLst>
      <p:ext uri="{BB962C8B-B14F-4D97-AF65-F5344CB8AC3E}">
        <p14:creationId xmlns:p14="http://schemas.microsoft.com/office/powerpoint/2010/main" val="2076017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4" y="445025"/>
            <a:ext cx="832409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solidFill>
                  <a:schemeClr val="tx1"/>
                </a:solidFill>
              </a:rPr>
              <a:t>Sistema de </a:t>
            </a:r>
            <a:r>
              <a:rPr lang="es-ES" dirty="0" err="1">
                <a:solidFill>
                  <a:schemeClr val="tx1"/>
                </a:solidFill>
              </a:rPr>
              <a:t>fidelització</a:t>
            </a:r>
            <a:r>
              <a:rPr lang="es-ES" dirty="0">
                <a:solidFill>
                  <a:schemeClr val="tx1"/>
                </a:solidFill>
              </a:rPr>
              <a:t> </a:t>
            </a:r>
            <a:r>
              <a:rPr lang="es-ES" dirty="0" err="1">
                <a:solidFill>
                  <a:schemeClr val="tx1"/>
                </a:solidFill>
              </a:rPr>
              <a:t>amb</a:t>
            </a:r>
            <a:r>
              <a:rPr lang="es-ES" dirty="0">
                <a:solidFill>
                  <a:schemeClr val="tx1"/>
                </a:solidFill>
              </a:rPr>
              <a:t> </a:t>
            </a:r>
            <a:r>
              <a:rPr lang="es-ES" dirty="0" err="1">
                <a:solidFill>
                  <a:schemeClr val="tx1"/>
                </a:solidFill>
              </a:rPr>
              <a:t>punts</a:t>
            </a:r>
            <a:r>
              <a:rPr lang="es-ES" dirty="0">
                <a:solidFill>
                  <a:schemeClr val="tx1"/>
                </a:solidFill>
              </a:rPr>
              <a:t> i </a:t>
            </a:r>
            <a:r>
              <a:rPr lang="es-ES" dirty="0" err="1">
                <a:solidFill>
                  <a:schemeClr val="tx1"/>
                </a:solidFill>
              </a:rPr>
              <a:t>descomptes</a:t>
            </a:r>
            <a:endParaRPr lang="en-US" dirty="0">
              <a:solidFill>
                <a:schemeClr val="tx1"/>
              </a:solidFill>
            </a:endParaRPr>
          </a:p>
        </p:txBody>
      </p:sp>
      <p:pic>
        <p:nvPicPr>
          <p:cNvPr id="2051" name="Picture 1">
            <a:extLst>
              <a:ext uri="{FF2B5EF4-FFF2-40B4-BE49-F238E27FC236}">
                <a16:creationId xmlns:a16="http://schemas.microsoft.com/office/drawing/2014/main" id="{FC41B7FA-C95A-5317-F63A-AD863C59F7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7013" y="1422845"/>
            <a:ext cx="2782071" cy="289007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A8292A3D-3029-A4A2-EC87-620C81E5C2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9508" y="1426937"/>
            <a:ext cx="2766952" cy="2885751"/>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1">
            <a:extLst>
              <a:ext uri="{FF2B5EF4-FFF2-40B4-BE49-F238E27FC236}">
                <a16:creationId xmlns:a16="http://schemas.microsoft.com/office/drawing/2014/main" id="{0EE699AE-BF76-8D94-BEFA-82CE7DE270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9623" y="1426937"/>
            <a:ext cx="2760473" cy="288791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4">
            <a:extLst>
              <a:ext uri="{FF2B5EF4-FFF2-40B4-BE49-F238E27FC236}">
                <a16:creationId xmlns:a16="http://schemas.microsoft.com/office/drawing/2014/main" id="{7C39CFD3-97D3-D081-BC09-B84001B47711}"/>
              </a:ext>
            </a:extLst>
          </p:cNvPr>
          <p:cNvSpPr>
            <a:spLocks noChangeArrowheads="1"/>
          </p:cNvSpPr>
          <p:nvPr/>
        </p:nvSpPr>
        <p:spPr bwMode="auto">
          <a:xfrm>
            <a:off x="1028700" y="152336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5">
            <a:extLst>
              <a:ext uri="{FF2B5EF4-FFF2-40B4-BE49-F238E27FC236}">
                <a16:creationId xmlns:a16="http://schemas.microsoft.com/office/drawing/2014/main" id="{A3A89938-2FB8-4966-4516-E5CD14E90CA4}"/>
              </a:ext>
            </a:extLst>
          </p:cNvPr>
          <p:cNvSpPr>
            <a:spLocks noChangeArrowheads="1"/>
          </p:cNvSpPr>
          <p:nvPr/>
        </p:nvSpPr>
        <p:spPr bwMode="auto">
          <a:xfrm>
            <a:off x="1028700" y="198056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149466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4" y="445025"/>
            <a:ext cx="832409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Sistema de </a:t>
            </a:r>
            <a:r>
              <a:rPr lang="es-ES" dirty="0" err="1"/>
              <a:t>fidelització</a:t>
            </a:r>
            <a:r>
              <a:rPr lang="es-ES" dirty="0"/>
              <a:t> </a:t>
            </a:r>
            <a:r>
              <a:rPr lang="es-ES" dirty="0" err="1"/>
              <a:t>amb</a:t>
            </a:r>
            <a:r>
              <a:rPr lang="es-ES" dirty="0"/>
              <a:t> </a:t>
            </a:r>
            <a:r>
              <a:rPr lang="es-ES" dirty="0" err="1"/>
              <a:t>punts</a:t>
            </a:r>
            <a:r>
              <a:rPr lang="es-ES" dirty="0"/>
              <a:t> i </a:t>
            </a:r>
            <a:r>
              <a:rPr lang="es-ES" dirty="0" err="1"/>
              <a:t>descomptes</a:t>
            </a:r>
            <a:endParaRPr lang="en-US" dirty="0"/>
          </a:p>
        </p:txBody>
      </p:sp>
      <p:sp>
        <p:nvSpPr>
          <p:cNvPr id="3" name="Rectangle 4">
            <a:extLst>
              <a:ext uri="{FF2B5EF4-FFF2-40B4-BE49-F238E27FC236}">
                <a16:creationId xmlns:a16="http://schemas.microsoft.com/office/drawing/2014/main" id="{7C39CFD3-97D3-D081-BC09-B84001B47711}"/>
              </a:ext>
            </a:extLst>
          </p:cNvPr>
          <p:cNvSpPr>
            <a:spLocks noChangeArrowheads="1"/>
          </p:cNvSpPr>
          <p:nvPr/>
        </p:nvSpPr>
        <p:spPr bwMode="auto">
          <a:xfrm>
            <a:off x="1028700" y="152336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5">
            <a:extLst>
              <a:ext uri="{FF2B5EF4-FFF2-40B4-BE49-F238E27FC236}">
                <a16:creationId xmlns:a16="http://schemas.microsoft.com/office/drawing/2014/main" id="{A3A89938-2FB8-4966-4516-E5CD14E90CA4}"/>
              </a:ext>
            </a:extLst>
          </p:cNvPr>
          <p:cNvSpPr>
            <a:spLocks noChangeArrowheads="1"/>
          </p:cNvSpPr>
          <p:nvPr/>
        </p:nvSpPr>
        <p:spPr bwMode="auto">
          <a:xfrm>
            <a:off x="1028700" y="198056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 name="Picture 9">
            <a:extLst>
              <a:ext uri="{FF2B5EF4-FFF2-40B4-BE49-F238E27FC236}">
                <a16:creationId xmlns:a16="http://schemas.microsoft.com/office/drawing/2014/main" id="{F87AE2CA-AD28-B9EB-1DC6-8254B1859CBC}"/>
              </a:ext>
            </a:extLst>
          </p:cNvPr>
          <p:cNvPicPr>
            <a:picLocks noChangeAspect="1"/>
          </p:cNvPicPr>
          <p:nvPr/>
        </p:nvPicPr>
        <p:blipFill>
          <a:blip r:embed="rId3"/>
          <a:stretch>
            <a:fillRect/>
          </a:stretch>
        </p:blipFill>
        <p:spPr>
          <a:xfrm>
            <a:off x="783852" y="1553014"/>
            <a:ext cx="7331448" cy="1955332"/>
          </a:xfrm>
          <a:prstGeom prst="rect">
            <a:avLst/>
          </a:prstGeom>
        </p:spPr>
      </p:pic>
      <p:pic>
        <p:nvPicPr>
          <p:cNvPr id="12" name="Picture 11">
            <a:extLst>
              <a:ext uri="{FF2B5EF4-FFF2-40B4-BE49-F238E27FC236}">
                <a16:creationId xmlns:a16="http://schemas.microsoft.com/office/drawing/2014/main" id="{DD378EC0-BAAE-59E1-432F-8D61F4B191BD}"/>
              </a:ext>
            </a:extLst>
          </p:cNvPr>
          <p:cNvPicPr>
            <a:picLocks noChangeAspect="1"/>
          </p:cNvPicPr>
          <p:nvPr/>
        </p:nvPicPr>
        <p:blipFill>
          <a:blip r:embed="rId4"/>
          <a:stretch>
            <a:fillRect/>
          </a:stretch>
        </p:blipFill>
        <p:spPr>
          <a:xfrm>
            <a:off x="6448566" y="1207185"/>
            <a:ext cx="2351492" cy="1800826"/>
          </a:xfrm>
          <a:prstGeom prst="rect">
            <a:avLst/>
          </a:prstGeom>
        </p:spPr>
      </p:pic>
      <p:pic>
        <p:nvPicPr>
          <p:cNvPr id="14" name="Picture 13">
            <a:extLst>
              <a:ext uri="{FF2B5EF4-FFF2-40B4-BE49-F238E27FC236}">
                <a16:creationId xmlns:a16="http://schemas.microsoft.com/office/drawing/2014/main" id="{55522BA9-B2B0-ADAB-BE58-2656EB0A78D2}"/>
              </a:ext>
            </a:extLst>
          </p:cNvPr>
          <p:cNvPicPr>
            <a:picLocks noChangeAspect="1"/>
          </p:cNvPicPr>
          <p:nvPr/>
        </p:nvPicPr>
        <p:blipFill>
          <a:blip r:embed="rId5"/>
          <a:stretch>
            <a:fillRect/>
          </a:stretch>
        </p:blipFill>
        <p:spPr>
          <a:xfrm>
            <a:off x="783852" y="3590892"/>
            <a:ext cx="7331448" cy="1156942"/>
          </a:xfrm>
          <a:prstGeom prst="rect">
            <a:avLst/>
          </a:prstGeom>
        </p:spPr>
      </p:pic>
    </p:spTree>
    <p:extLst>
      <p:ext uri="{BB962C8B-B14F-4D97-AF65-F5344CB8AC3E}">
        <p14:creationId xmlns:p14="http://schemas.microsoft.com/office/powerpoint/2010/main" val="22758509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4" y="445025"/>
            <a:ext cx="832409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Rebentades de preu al Black Friday</a:t>
            </a:r>
            <a:endParaRPr lang="en-US" dirty="0"/>
          </a:p>
        </p:txBody>
      </p:sp>
      <p:sp>
        <p:nvSpPr>
          <p:cNvPr id="3" name="Rectangle 4">
            <a:extLst>
              <a:ext uri="{FF2B5EF4-FFF2-40B4-BE49-F238E27FC236}">
                <a16:creationId xmlns:a16="http://schemas.microsoft.com/office/drawing/2014/main" id="{7C39CFD3-97D3-D081-BC09-B84001B47711}"/>
              </a:ext>
            </a:extLst>
          </p:cNvPr>
          <p:cNvSpPr>
            <a:spLocks noChangeArrowheads="1"/>
          </p:cNvSpPr>
          <p:nvPr/>
        </p:nvSpPr>
        <p:spPr bwMode="auto">
          <a:xfrm>
            <a:off x="1028700" y="152336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5">
            <a:extLst>
              <a:ext uri="{FF2B5EF4-FFF2-40B4-BE49-F238E27FC236}">
                <a16:creationId xmlns:a16="http://schemas.microsoft.com/office/drawing/2014/main" id="{A3A89938-2FB8-4966-4516-E5CD14E90CA4}"/>
              </a:ext>
            </a:extLst>
          </p:cNvPr>
          <p:cNvSpPr>
            <a:spLocks noChangeArrowheads="1"/>
          </p:cNvSpPr>
          <p:nvPr/>
        </p:nvSpPr>
        <p:spPr bwMode="auto">
          <a:xfrm>
            <a:off x="1028700" y="198056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 name="Picture 6">
            <a:extLst>
              <a:ext uri="{FF2B5EF4-FFF2-40B4-BE49-F238E27FC236}">
                <a16:creationId xmlns:a16="http://schemas.microsoft.com/office/drawing/2014/main" id="{2EA633FD-F78A-D6B4-DD6D-48F76CFEB99B}"/>
              </a:ext>
            </a:extLst>
          </p:cNvPr>
          <p:cNvPicPr>
            <a:picLocks noChangeAspect="1"/>
          </p:cNvPicPr>
          <p:nvPr/>
        </p:nvPicPr>
        <p:blipFill>
          <a:blip r:embed="rId3"/>
          <a:stretch>
            <a:fillRect/>
          </a:stretch>
        </p:blipFill>
        <p:spPr>
          <a:xfrm>
            <a:off x="739709" y="1234100"/>
            <a:ext cx="5925493" cy="2652099"/>
          </a:xfrm>
          <a:prstGeom prst="rect">
            <a:avLst/>
          </a:prstGeom>
        </p:spPr>
      </p:pic>
      <p:pic>
        <p:nvPicPr>
          <p:cNvPr id="4" name="Picture 3">
            <a:extLst>
              <a:ext uri="{FF2B5EF4-FFF2-40B4-BE49-F238E27FC236}">
                <a16:creationId xmlns:a16="http://schemas.microsoft.com/office/drawing/2014/main" id="{E22D4A4A-F562-E6FD-3A6B-D208F51F8F6E}"/>
              </a:ext>
            </a:extLst>
          </p:cNvPr>
          <p:cNvPicPr>
            <a:picLocks noChangeAspect="1"/>
          </p:cNvPicPr>
          <p:nvPr/>
        </p:nvPicPr>
        <p:blipFill>
          <a:blip r:embed="rId4"/>
          <a:stretch>
            <a:fillRect/>
          </a:stretch>
        </p:blipFill>
        <p:spPr>
          <a:xfrm>
            <a:off x="5791200" y="2075122"/>
            <a:ext cx="3107327" cy="2711776"/>
          </a:xfrm>
          <a:prstGeom prst="rect">
            <a:avLst/>
          </a:prstGeom>
        </p:spPr>
      </p:pic>
    </p:spTree>
    <p:extLst>
      <p:ext uri="{BB962C8B-B14F-4D97-AF65-F5344CB8AC3E}">
        <p14:creationId xmlns:p14="http://schemas.microsoft.com/office/powerpoint/2010/main" val="35290202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4" y="445025"/>
            <a:ext cx="832409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Cost </a:t>
            </a:r>
            <a:r>
              <a:rPr lang="en-US" dirty="0" err="1"/>
              <a:t>d’enviament</a:t>
            </a:r>
            <a:endParaRPr lang="en-US" dirty="0"/>
          </a:p>
        </p:txBody>
      </p:sp>
      <p:sp>
        <p:nvSpPr>
          <p:cNvPr id="3" name="Rectangle 4">
            <a:extLst>
              <a:ext uri="{FF2B5EF4-FFF2-40B4-BE49-F238E27FC236}">
                <a16:creationId xmlns:a16="http://schemas.microsoft.com/office/drawing/2014/main" id="{7C39CFD3-97D3-D081-BC09-B84001B47711}"/>
              </a:ext>
            </a:extLst>
          </p:cNvPr>
          <p:cNvSpPr>
            <a:spLocks noChangeArrowheads="1"/>
          </p:cNvSpPr>
          <p:nvPr/>
        </p:nvSpPr>
        <p:spPr bwMode="auto">
          <a:xfrm>
            <a:off x="1028700" y="152336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5">
            <a:extLst>
              <a:ext uri="{FF2B5EF4-FFF2-40B4-BE49-F238E27FC236}">
                <a16:creationId xmlns:a16="http://schemas.microsoft.com/office/drawing/2014/main" id="{A3A89938-2FB8-4966-4516-E5CD14E90CA4}"/>
              </a:ext>
            </a:extLst>
          </p:cNvPr>
          <p:cNvSpPr>
            <a:spLocks noChangeArrowheads="1"/>
          </p:cNvSpPr>
          <p:nvPr/>
        </p:nvSpPr>
        <p:spPr bwMode="auto">
          <a:xfrm>
            <a:off x="1028700" y="198056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4">
            <a:extLst>
              <a:ext uri="{FF2B5EF4-FFF2-40B4-BE49-F238E27FC236}">
                <a16:creationId xmlns:a16="http://schemas.microsoft.com/office/drawing/2014/main" id="{7B44CE2D-BB3B-1131-9E76-41DE7769D1B8}"/>
              </a:ext>
            </a:extLst>
          </p:cNvPr>
          <p:cNvPicPr>
            <a:picLocks noChangeAspect="1"/>
          </p:cNvPicPr>
          <p:nvPr/>
        </p:nvPicPr>
        <p:blipFill>
          <a:blip r:embed="rId3"/>
          <a:stretch>
            <a:fillRect/>
          </a:stretch>
        </p:blipFill>
        <p:spPr>
          <a:xfrm>
            <a:off x="3637098" y="1294766"/>
            <a:ext cx="2942377" cy="28583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127C401F-28CD-5BBF-9F1E-C27DB58DF9F7}"/>
              </a:ext>
            </a:extLst>
          </p:cNvPr>
          <p:cNvPicPr>
            <a:picLocks noChangeAspect="1"/>
          </p:cNvPicPr>
          <p:nvPr/>
        </p:nvPicPr>
        <p:blipFill>
          <a:blip r:embed="rId4"/>
          <a:stretch>
            <a:fillRect/>
          </a:stretch>
        </p:blipFill>
        <p:spPr>
          <a:xfrm>
            <a:off x="522724" y="1296620"/>
            <a:ext cx="2937705" cy="28583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3" name="Picture 12">
            <a:extLst>
              <a:ext uri="{FF2B5EF4-FFF2-40B4-BE49-F238E27FC236}">
                <a16:creationId xmlns:a16="http://schemas.microsoft.com/office/drawing/2014/main" id="{D071049A-4D16-062E-8FAC-0D81F586FE6A}"/>
              </a:ext>
            </a:extLst>
          </p:cNvPr>
          <p:cNvPicPr>
            <a:picLocks noChangeAspect="1"/>
          </p:cNvPicPr>
          <p:nvPr/>
        </p:nvPicPr>
        <p:blipFill rotWithShape="1">
          <a:blip r:embed="rId5"/>
          <a:srcRect r="39573"/>
          <a:stretch/>
        </p:blipFill>
        <p:spPr>
          <a:xfrm>
            <a:off x="6736099" y="1294766"/>
            <a:ext cx="1943081" cy="28583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207305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4" y="445025"/>
            <a:ext cx="832409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Blade Templating Engine </a:t>
            </a:r>
            <a:r>
              <a:rPr lang="pt-BR" dirty="0">
                <a:solidFill>
                  <a:schemeClr val="tx1"/>
                </a:solidFill>
              </a:rPr>
              <a:t>- Larabel</a:t>
            </a:r>
            <a:endParaRPr lang="en-US" dirty="0">
              <a:solidFill>
                <a:schemeClr val="tx1"/>
              </a:solidFill>
            </a:endParaRPr>
          </a:p>
        </p:txBody>
      </p:sp>
      <p:sp>
        <p:nvSpPr>
          <p:cNvPr id="3" name="Rectangle 4">
            <a:extLst>
              <a:ext uri="{FF2B5EF4-FFF2-40B4-BE49-F238E27FC236}">
                <a16:creationId xmlns:a16="http://schemas.microsoft.com/office/drawing/2014/main" id="{7C39CFD3-97D3-D081-BC09-B84001B47711}"/>
              </a:ext>
            </a:extLst>
          </p:cNvPr>
          <p:cNvSpPr>
            <a:spLocks noChangeArrowheads="1"/>
          </p:cNvSpPr>
          <p:nvPr/>
        </p:nvSpPr>
        <p:spPr bwMode="auto">
          <a:xfrm>
            <a:off x="1028700" y="152336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5">
            <a:extLst>
              <a:ext uri="{FF2B5EF4-FFF2-40B4-BE49-F238E27FC236}">
                <a16:creationId xmlns:a16="http://schemas.microsoft.com/office/drawing/2014/main" id="{A3A89938-2FB8-4966-4516-E5CD14E90CA4}"/>
              </a:ext>
            </a:extLst>
          </p:cNvPr>
          <p:cNvSpPr>
            <a:spLocks noChangeArrowheads="1"/>
          </p:cNvSpPr>
          <p:nvPr/>
        </p:nvSpPr>
        <p:spPr bwMode="auto">
          <a:xfrm>
            <a:off x="1028700" y="198056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099" name="Picture 1">
            <a:extLst>
              <a:ext uri="{FF2B5EF4-FFF2-40B4-BE49-F238E27FC236}">
                <a16:creationId xmlns:a16="http://schemas.microsoft.com/office/drawing/2014/main" id="{105C3406-BA68-5006-59EF-25E35475BB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1356" y="1340611"/>
            <a:ext cx="1791564" cy="2944110"/>
          </a:xfrm>
          <a:prstGeom prst="rect">
            <a:avLst/>
          </a:prstGeom>
          <a:noFill/>
          <a:extLst>
            <a:ext uri="{909E8E84-426E-40DD-AFC4-6F175D3DCCD1}">
              <a14:hiddenFill xmlns:a14="http://schemas.microsoft.com/office/drawing/2010/main">
                <a:solidFill>
                  <a:srgbClr val="FFFFFF"/>
                </a:solidFill>
              </a14:hiddenFill>
            </a:ext>
          </a:extLst>
        </p:spPr>
      </p:pic>
      <p:pic>
        <p:nvPicPr>
          <p:cNvPr id="4097" name="Picture 1">
            <a:extLst>
              <a:ext uri="{FF2B5EF4-FFF2-40B4-BE49-F238E27FC236}">
                <a16:creationId xmlns:a16="http://schemas.microsoft.com/office/drawing/2014/main" id="{00677152-AAC9-310A-A99D-31D7E76C31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2920" y="1340610"/>
            <a:ext cx="1778045" cy="2944101"/>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149C79D6-2BAA-9889-B0F2-A398EF1F74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15988"/>
          <a:stretch>
            <a:fillRect/>
          </a:stretch>
        </p:blipFill>
        <p:spPr bwMode="auto">
          <a:xfrm>
            <a:off x="713224" y="1397304"/>
            <a:ext cx="4254067" cy="238085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4">
            <a:extLst>
              <a:ext uri="{FF2B5EF4-FFF2-40B4-BE49-F238E27FC236}">
                <a16:creationId xmlns:a16="http://schemas.microsoft.com/office/drawing/2014/main" id="{480F986B-582C-127F-D7F8-E32CCF05A1DE}"/>
              </a:ext>
            </a:extLst>
          </p:cNvPr>
          <p:cNvSpPr>
            <a:spLocks noChangeArrowheads="1"/>
          </p:cNvSpPr>
          <p:nvPr/>
        </p:nvSpPr>
        <p:spPr bwMode="auto">
          <a:xfrm>
            <a:off x="275074" y="90678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5">
            <a:extLst>
              <a:ext uri="{FF2B5EF4-FFF2-40B4-BE49-F238E27FC236}">
                <a16:creationId xmlns:a16="http://schemas.microsoft.com/office/drawing/2014/main" id="{345359C2-F769-B467-C289-8A6BB183AFCE}"/>
              </a:ext>
            </a:extLst>
          </p:cNvPr>
          <p:cNvSpPr>
            <a:spLocks noChangeArrowheads="1"/>
          </p:cNvSpPr>
          <p:nvPr/>
        </p:nvSpPr>
        <p:spPr bwMode="auto">
          <a:xfrm>
            <a:off x="396994" y="143541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8965415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224" y="445025"/>
            <a:ext cx="832409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Factory + Template - Larabel</a:t>
            </a:r>
            <a:endParaRPr lang="en-US" dirty="0"/>
          </a:p>
        </p:txBody>
      </p:sp>
      <p:sp>
        <p:nvSpPr>
          <p:cNvPr id="3" name="Rectangle 4">
            <a:extLst>
              <a:ext uri="{FF2B5EF4-FFF2-40B4-BE49-F238E27FC236}">
                <a16:creationId xmlns:a16="http://schemas.microsoft.com/office/drawing/2014/main" id="{7C39CFD3-97D3-D081-BC09-B84001B47711}"/>
              </a:ext>
            </a:extLst>
          </p:cNvPr>
          <p:cNvSpPr>
            <a:spLocks noChangeArrowheads="1"/>
          </p:cNvSpPr>
          <p:nvPr/>
        </p:nvSpPr>
        <p:spPr bwMode="auto">
          <a:xfrm>
            <a:off x="1028700" y="152336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5">
            <a:extLst>
              <a:ext uri="{FF2B5EF4-FFF2-40B4-BE49-F238E27FC236}">
                <a16:creationId xmlns:a16="http://schemas.microsoft.com/office/drawing/2014/main" id="{A3A89938-2FB8-4966-4516-E5CD14E90CA4}"/>
              </a:ext>
            </a:extLst>
          </p:cNvPr>
          <p:cNvSpPr>
            <a:spLocks noChangeArrowheads="1"/>
          </p:cNvSpPr>
          <p:nvPr/>
        </p:nvSpPr>
        <p:spPr bwMode="auto">
          <a:xfrm>
            <a:off x="1028700" y="198056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5">
            <a:extLst>
              <a:ext uri="{FF2B5EF4-FFF2-40B4-BE49-F238E27FC236}">
                <a16:creationId xmlns:a16="http://schemas.microsoft.com/office/drawing/2014/main" id="{345359C2-F769-B467-C289-8A6BB183AFCE}"/>
              </a:ext>
            </a:extLst>
          </p:cNvPr>
          <p:cNvSpPr>
            <a:spLocks noChangeArrowheads="1"/>
          </p:cNvSpPr>
          <p:nvPr/>
        </p:nvSpPr>
        <p:spPr bwMode="auto">
          <a:xfrm>
            <a:off x="396994" y="143541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123" name="Picture 1">
            <a:extLst>
              <a:ext uri="{FF2B5EF4-FFF2-40B4-BE49-F238E27FC236}">
                <a16:creationId xmlns:a16="http://schemas.microsoft.com/office/drawing/2014/main" id="{DE368B94-38DA-2861-12A2-718EE2C72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6924" y="1144200"/>
            <a:ext cx="3597275" cy="1616075"/>
          </a:xfrm>
          <a:prstGeom prst="rect">
            <a:avLst/>
          </a:prstGeom>
          <a:noFill/>
          <a:extLst>
            <a:ext uri="{909E8E84-426E-40DD-AFC4-6F175D3DCCD1}">
              <a14:hiddenFill xmlns:a14="http://schemas.microsoft.com/office/drawing/2010/main">
                <a:solidFill>
                  <a:srgbClr val="FFFFFF"/>
                </a:solidFill>
              </a14:hiddenFill>
            </a:ext>
          </a:extLst>
        </p:spPr>
      </p:pic>
      <p:pic>
        <p:nvPicPr>
          <p:cNvPr id="5125" name="Picture 1">
            <a:extLst>
              <a:ext uri="{FF2B5EF4-FFF2-40B4-BE49-F238E27FC236}">
                <a16:creationId xmlns:a16="http://schemas.microsoft.com/office/drawing/2014/main" id="{4BA67ED9-7A13-CD34-35A0-A5AB9A0FD1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8200" y="1135380"/>
            <a:ext cx="2443162" cy="1612900"/>
          </a:xfrm>
          <a:prstGeom prst="rect">
            <a:avLst/>
          </a:prstGeom>
          <a:noFill/>
          <a:extLst>
            <a:ext uri="{909E8E84-426E-40DD-AFC4-6F175D3DCCD1}">
              <a14:hiddenFill xmlns:a14="http://schemas.microsoft.com/office/drawing/2010/main">
                <a:solidFill>
                  <a:srgbClr val="FFFFFF"/>
                </a:solidFill>
              </a14:hiddenFill>
            </a:ext>
          </a:extLst>
        </p:spPr>
      </p:pic>
      <p:pic>
        <p:nvPicPr>
          <p:cNvPr id="5121" name="Picture 1">
            <a:extLst>
              <a:ext uri="{FF2B5EF4-FFF2-40B4-BE49-F238E27FC236}">
                <a16:creationId xmlns:a16="http://schemas.microsoft.com/office/drawing/2014/main" id="{856C3302-807B-08AC-7F24-171187B6526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42834" b="44887"/>
          <a:stretch/>
        </p:blipFill>
        <p:spPr bwMode="auto">
          <a:xfrm>
            <a:off x="5118993" y="2932431"/>
            <a:ext cx="2441575" cy="173707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073D31B9-A3D9-730C-5250-F10851CC2B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6924" y="2932431"/>
            <a:ext cx="3597275" cy="173707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6">
            <a:extLst>
              <a:ext uri="{FF2B5EF4-FFF2-40B4-BE49-F238E27FC236}">
                <a16:creationId xmlns:a16="http://schemas.microsoft.com/office/drawing/2014/main" id="{0847BD70-E0A6-9181-BF62-33D4B9ED27FB}"/>
              </a:ext>
            </a:extLst>
          </p:cNvPr>
          <p:cNvSpPr>
            <a:spLocks noChangeArrowheads="1"/>
          </p:cNvSpPr>
          <p:nvPr/>
        </p:nvSpPr>
        <p:spPr bwMode="auto">
          <a:xfrm>
            <a:off x="1565275" y="1143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7">
            <a:extLst>
              <a:ext uri="{FF2B5EF4-FFF2-40B4-BE49-F238E27FC236}">
                <a16:creationId xmlns:a16="http://schemas.microsoft.com/office/drawing/2014/main" id="{3AC78FE7-C777-BD9D-F9CB-D56A12E53A08}"/>
              </a:ext>
            </a:extLst>
          </p:cNvPr>
          <p:cNvSpPr>
            <a:spLocks noChangeArrowheads="1"/>
          </p:cNvSpPr>
          <p:nvPr/>
        </p:nvSpPr>
        <p:spPr bwMode="auto">
          <a:xfrm>
            <a:off x="2022475" y="571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8">
            <a:extLst>
              <a:ext uri="{FF2B5EF4-FFF2-40B4-BE49-F238E27FC236}">
                <a16:creationId xmlns:a16="http://schemas.microsoft.com/office/drawing/2014/main" id="{D6CDA3BC-56A4-4E02-84A0-4C17BFB60AB9}"/>
              </a:ext>
            </a:extLst>
          </p:cNvPr>
          <p:cNvSpPr>
            <a:spLocks noChangeArrowheads="1"/>
          </p:cNvSpPr>
          <p:nvPr/>
        </p:nvSpPr>
        <p:spPr bwMode="auto">
          <a:xfrm>
            <a:off x="2022475" y="571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9">
            <a:extLst>
              <a:ext uri="{FF2B5EF4-FFF2-40B4-BE49-F238E27FC236}">
                <a16:creationId xmlns:a16="http://schemas.microsoft.com/office/drawing/2014/main" id="{D0D56A36-CEFE-385E-D6B7-B73559D6B487}"/>
              </a:ext>
            </a:extLst>
          </p:cNvPr>
          <p:cNvSpPr>
            <a:spLocks noChangeArrowheads="1"/>
          </p:cNvSpPr>
          <p:nvPr/>
        </p:nvSpPr>
        <p:spPr bwMode="auto">
          <a:xfrm>
            <a:off x="2022475" y="21875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10">
            <a:extLst>
              <a:ext uri="{FF2B5EF4-FFF2-40B4-BE49-F238E27FC236}">
                <a16:creationId xmlns:a16="http://schemas.microsoft.com/office/drawing/2014/main" id="{ECE2BD71-DCFE-EE08-5237-68734BAF2A6A}"/>
              </a:ext>
            </a:extLst>
          </p:cNvPr>
          <p:cNvSpPr>
            <a:spLocks noChangeArrowheads="1"/>
          </p:cNvSpPr>
          <p:nvPr/>
        </p:nvSpPr>
        <p:spPr bwMode="auto">
          <a:xfrm>
            <a:off x="1793875" y="21875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4167771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67"/>
        <p:cNvGrpSpPr/>
        <p:nvPr/>
      </p:nvGrpSpPr>
      <p:grpSpPr>
        <a:xfrm>
          <a:off x="0" y="0"/>
          <a:ext cx="0" cy="0"/>
          <a:chOff x="0" y="0"/>
          <a:chExt cx="0" cy="0"/>
        </a:xfrm>
      </p:grpSpPr>
      <p:sp>
        <p:nvSpPr>
          <p:cNvPr id="1568" name="Google Shape;1568;p123"/>
          <p:cNvSpPr txBox="1">
            <a:spLocks noGrp="1"/>
          </p:cNvSpPr>
          <p:nvPr>
            <p:ph type="title"/>
          </p:nvPr>
        </p:nvSpPr>
        <p:spPr>
          <a:xfrm>
            <a:off x="2840379" y="1165950"/>
            <a:ext cx="3478200" cy="92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7B9B71"/>
                </a:solidFill>
              </a:rPr>
              <a:t>Gràcies</a:t>
            </a:r>
            <a:endParaRPr dirty="0">
              <a:solidFill>
                <a:srgbClr val="7B9B71"/>
              </a:solidFill>
            </a:endParaRPr>
          </a:p>
        </p:txBody>
      </p:sp>
      <p:sp>
        <p:nvSpPr>
          <p:cNvPr id="1569" name="Google Shape;1569;p123"/>
          <p:cNvSpPr txBox="1">
            <a:spLocks noGrp="1"/>
          </p:cNvSpPr>
          <p:nvPr>
            <p:ph type="subTitle" idx="1"/>
          </p:nvPr>
        </p:nvSpPr>
        <p:spPr>
          <a:xfrm>
            <a:off x="2983350" y="2131951"/>
            <a:ext cx="3177300" cy="922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Tens alguna pregunta?</a:t>
            </a:r>
            <a:endParaRPr dirty="0"/>
          </a:p>
          <a:p>
            <a:pPr marL="0" lvl="0" indent="0" algn="ctr" rtl="0">
              <a:spcBef>
                <a:spcPts val="0"/>
              </a:spcBef>
              <a:spcAft>
                <a:spcPts val="0"/>
              </a:spcAft>
              <a:buNone/>
            </a:pPr>
            <a:r>
              <a:rPr lang="en" dirty="0"/>
              <a:t>etorrontera@uda.com</a:t>
            </a:r>
            <a:endParaRPr dirty="0"/>
          </a:p>
        </p:txBody>
      </p:sp>
      <p:grpSp>
        <p:nvGrpSpPr>
          <p:cNvPr id="1570" name="Google Shape;1570;p123"/>
          <p:cNvGrpSpPr/>
          <p:nvPr/>
        </p:nvGrpSpPr>
        <p:grpSpPr>
          <a:xfrm>
            <a:off x="4961882" y="2876803"/>
            <a:ext cx="458723" cy="458684"/>
            <a:chOff x="1379798" y="1723250"/>
            <a:chExt cx="397887" cy="397887"/>
          </a:xfrm>
        </p:grpSpPr>
        <p:sp>
          <p:nvSpPr>
            <p:cNvPr id="1571" name="Google Shape;1571;p123"/>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72" name="Google Shape;1572;p123"/>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73" name="Google Shape;1573;p123"/>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74" name="Google Shape;1574;p123"/>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grpSp>
        <p:nvGrpSpPr>
          <p:cNvPr id="1575" name="Google Shape;1575;p123"/>
          <p:cNvGrpSpPr/>
          <p:nvPr/>
        </p:nvGrpSpPr>
        <p:grpSpPr>
          <a:xfrm>
            <a:off x="3721699" y="2876803"/>
            <a:ext cx="458747" cy="458684"/>
            <a:chOff x="266768" y="1721375"/>
            <a:chExt cx="397907" cy="397887"/>
          </a:xfrm>
        </p:grpSpPr>
        <p:sp>
          <p:nvSpPr>
            <p:cNvPr id="1576" name="Google Shape;1576;p123"/>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77" name="Google Shape;1577;p123"/>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grpSp>
        <p:nvGrpSpPr>
          <p:cNvPr id="1578" name="Google Shape;1578;p123"/>
          <p:cNvGrpSpPr/>
          <p:nvPr/>
        </p:nvGrpSpPr>
        <p:grpSpPr>
          <a:xfrm>
            <a:off x="4350135" y="2876803"/>
            <a:ext cx="458699" cy="458684"/>
            <a:chOff x="864491" y="1723250"/>
            <a:chExt cx="397866" cy="397887"/>
          </a:xfrm>
        </p:grpSpPr>
        <p:sp>
          <p:nvSpPr>
            <p:cNvPr id="1579" name="Google Shape;1579;p123"/>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80" name="Google Shape;1580;p123"/>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581" name="Google Shape;1581;p123"/>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spTree>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3318</TotalTime>
  <Words>1425</Words>
  <Application>Microsoft Office PowerPoint</Application>
  <PresentationFormat>On-screen Show (16:9)</PresentationFormat>
  <Paragraphs>184</Paragraphs>
  <Slides>35</Slides>
  <Notes>35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Vidaloka</vt:lpstr>
      <vt:lpstr>Josefin Sans</vt:lpstr>
      <vt:lpstr>Arial</vt:lpstr>
      <vt:lpstr>OpenSansRegular</vt:lpstr>
      <vt:lpstr>Montserrat</vt:lpstr>
      <vt:lpstr>Symbol</vt:lpstr>
      <vt:lpstr>Open Sans</vt:lpstr>
      <vt:lpstr>Calibri</vt:lpstr>
      <vt:lpstr>Minimalist Business Slides XL by Slidesgo</vt:lpstr>
      <vt:lpstr>BINFO2 M5  Repte Disseny i programació d’aplicacions informàtiques</vt:lpstr>
      <vt:lpstr>Racó del Llibre.SL</vt:lpstr>
      <vt:lpstr>Forma Jurídica</vt:lpstr>
      <vt:lpstr>Departaments</vt:lpstr>
      <vt:lpstr>Anàlisi del microentorn</vt:lpstr>
      <vt:lpstr>Forces competitives de Porter (1982):</vt:lpstr>
      <vt:lpstr>Forces competitives de Porter (1982):</vt:lpstr>
      <vt:lpstr>Forces competitives de Porter (1982):</vt:lpstr>
      <vt:lpstr>Forces competitives de Porter (1982):</vt:lpstr>
      <vt:lpstr>Forces competitives de Porter (1982):</vt:lpstr>
      <vt:lpstr>PESTEL</vt:lpstr>
      <vt:lpstr>PowerPoint Presentation</vt:lpstr>
      <vt:lpstr>PESTEL</vt:lpstr>
      <vt:lpstr>DAFO</vt:lpstr>
      <vt:lpstr>ESTRATÈGIA</vt:lpstr>
      <vt:lpstr>Proposta ODS</vt:lpstr>
      <vt:lpstr>Objectius de Desenvolupament Sostenibles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Creació de la pàgina web</vt:lpstr>
      <vt:lpstr>Diagrama d’especificació  Diagrama de disseny  Esquema Relacional</vt:lpstr>
      <vt:lpstr>Esquema</vt:lpstr>
      <vt:lpstr>Sistema de fidelització amb punts i descomptes</vt:lpstr>
      <vt:lpstr>Sistema de fidelització amb punts i descomptes</vt:lpstr>
      <vt:lpstr>Sistema de fidelització amb punts i descomptes</vt:lpstr>
      <vt:lpstr>Rebentades de preu al Black Friday</vt:lpstr>
      <vt:lpstr>Cost d’enviament</vt:lpstr>
      <vt:lpstr>Blade Templating Engine - Larabel</vt:lpstr>
      <vt:lpstr>Factory + Template - Larabel</vt:lpstr>
      <vt:lpstr>Gràcies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BINFO1 M2  Repte Fonaments de computadors</dc:title>
  <dc:creator>Andormix</dc:creator>
  <cp:lastModifiedBy>Arthas Menethil</cp:lastModifiedBy>
  <cp:revision>54</cp:revision>
  <dcterms:modified xsi:type="dcterms:W3CDTF">2024-01-25T09:03:01Z</dcterms:modified>
</cp:coreProperties>
</file>